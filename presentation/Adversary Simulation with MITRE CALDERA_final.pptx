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83" r:id="rId1"/>
  </p:sldMasterIdLst>
  <p:notesMasterIdLst>
    <p:notesMasterId r:id="rId36"/>
  </p:notesMasterIdLst>
  <p:sldIdLst>
    <p:sldId id="256" r:id="rId2"/>
    <p:sldId id="258" r:id="rId3"/>
    <p:sldId id="261" r:id="rId4"/>
    <p:sldId id="262" r:id="rId5"/>
    <p:sldId id="263" r:id="rId6"/>
    <p:sldId id="311" r:id="rId7"/>
    <p:sldId id="312" r:id="rId8"/>
    <p:sldId id="313" r:id="rId9"/>
    <p:sldId id="314" r:id="rId10"/>
    <p:sldId id="315" r:id="rId11"/>
    <p:sldId id="324" r:id="rId12"/>
    <p:sldId id="325" r:id="rId13"/>
    <p:sldId id="326" r:id="rId14"/>
    <p:sldId id="327" r:id="rId15"/>
    <p:sldId id="328" r:id="rId16"/>
    <p:sldId id="329" r:id="rId17"/>
    <p:sldId id="316" r:id="rId18"/>
    <p:sldId id="317" r:id="rId19"/>
    <p:sldId id="323" r:id="rId20"/>
    <p:sldId id="318" r:id="rId21"/>
    <p:sldId id="321" r:id="rId22"/>
    <p:sldId id="319" r:id="rId23"/>
    <p:sldId id="322" r:id="rId24"/>
    <p:sldId id="320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9" r:id="rId34"/>
    <p:sldId id="338" r:id="rId35"/>
  </p:sldIdLst>
  <p:sldSz cx="9144000" cy="5143500" type="screen16x9"/>
  <p:notesSz cx="6858000" cy="9144000"/>
  <p:embeddedFontLst>
    <p:embeddedFont>
      <p:font typeface="Advent Pro" panose="020B0604020202020204" charset="0"/>
      <p:regular r:id="rId37"/>
      <p:bold r:id="rId38"/>
      <p:italic r:id="rId39"/>
      <p:boldItalic r:id="rId40"/>
    </p:embeddedFont>
    <p:embeddedFont>
      <p:font typeface="Alumni Sans Pinstripe" panose="020B0604020202020204" charset="0"/>
      <p:regular r:id="rId41"/>
      <p:italic r:id="rId42"/>
    </p:embeddedFont>
    <p:embeddedFont>
      <p:font typeface="Cambria Math" panose="02040503050406030204" pitchFamily="18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74B70B-DFDF-498B-A855-13788AC6C060}">
  <a:tblStyle styleId="{7674B70B-DFDF-498B-A855-13788AC6C0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346" autoAdjust="0"/>
  </p:normalViewPr>
  <p:slideViewPr>
    <p:cSldViewPr snapToGrid="0">
      <p:cViewPr varScale="1">
        <p:scale>
          <a:sx n="106" d="100"/>
          <a:sy n="106" d="100"/>
        </p:scale>
        <p:origin x="1764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11bc263f502_0_2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11bc263f502_0_2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NAT/WAN – </a:t>
            </a:r>
            <a:r>
              <a:rPr lang="en-US" dirty="0" err="1"/>
              <a:t>generalno</a:t>
            </a:r>
            <a:r>
              <a:rPr lang="en-US" dirty="0"/>
              <a:t> </a:t>
            </a:r>
            <a:r>
              <a:rPr lang="en-US" dirty="0" err="1"/>
              <a:t>spajanje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azuriranje</a:t>
            </a:r>
            <a:r>
              <a:rPr lang="en-US" dirty="0"/>
              <a:t> </a:t>
            </a:r>
            <a:r>
              <a:rPr lang="en-US" dirty="0" err="1"/>
              <a:t>paketa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LAN / </a:t>
            </a:r>
            <a:r>
              <a:rPr lang="en-US" dirty="0" err="1"/>
              <a:t>Technova</a:t>
            </a:r>
            <a:r>
              <a:rPr lang="en-US" dirty="0"/>
              <a:t> – </a:t>
            </a:r>
            <a:r>
              <a:rPr lang="en-US" dirty="0" err="1"/>
              <a:t>spajanje</a:t>
            </a:r>
            <a:r>
              <a:rPr lang="en-US" dirty="0"/>
              <a:t> za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ostale</a:t>
            </a:r>
            <a:r>
              <a:rPr lang="en-US" dirty="0"/>
              <a:t> VM-</a:t>
            </a:r>
            <a:r>
              <a:rPr lang="en-US" dirty="0" err="1"/>
              <a:t>ove</a:t>
            </a:r>
            <a:r>
              <a:rPr lang="en-US" dirty="0"/>
              <a:t> u </a:t>
            </a:r>
            <a:r>
              <a:rPr lang="en-US" dirty="0" err="1"/>
              <a:t>mrezi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Host-Only – za </a:t>
            </a:r>
            <a:r>
              <a:rPr lang="en-US" dirty="0" err="1"/>
              <a:t>sigruno</a:t>
            </a:r>
            <a:r>
              <a:rPr lang="en-US" dirty="0"/>
              <a:t> </a:t>
            </a:r>
            <a:r>
              <a:rPr lang="en-US" dirty="0" err="1"/>
              <a:t>spajanje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PfSense</a:t>
            </a:r>
            <a:r>
              <a:rPr lang="en-US" dirty="0"/>
              <a:t> GUI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21A43F79-FCB0-67CF-9A26-046B99A0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CADDA40D-DBF1-C867-F5E2-01F1847ED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5A54B744-010F-19F2-A51E-2F0E18521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5977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D3AE7066-E060-5236-3DA5-F794E3E9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8EBDF3C2-E14F-03E1-450C-CFFB13AA8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814053EE-6EE3-A436-56F8-47A41A26B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3998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5AC13A2F-F302-FAC4-3439-B3CDF48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27CE1000-9C65-B760-39AA-633C33975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550AEFA5-93A7-84D9-798F-76447C180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245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AC6CFF0F-4083-E44F-674A-09589905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EE714EE7-D7DF-10B9-2EA1-067C62013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88E1D836-818F-9B8E-056F-E371061325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0501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E535306C-9E3F-1D76-7887-157AB35D9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68641DD9-E3C6-6AF0-E463-933B09BC9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82DAE460-2909-83BA-B915-111431824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0424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0">
          <a:extLst>
            <a:ext uri="{FF2B5EF4-FFF2-40B4-BE49-F238E27FC236}">
              <a16:creationId xmlns:a16="http://schemas.microsoft.com/office/drawing/2014/main" id="{63394274-C6BC-3429-9E6C-E72B66A7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11bc263f502_0_2112:notes">
            <a:extLst>
              <a:ext uri="{FF2B5EF4-FFF2-40B4-BE49-F238E27FC236}">
                <a16:creationId xmlns:a16="http://schemas.microsoft.com/office/drawing/2014/main" id="{F066A072-E157-184F-4963-64A73D728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11bc263f502_0_2112:notes">
            <a:extLst>
              <a:ext uri="{FF2B5EF4-FFF2-40B4-BE49-F238E27FC236}">
                <a16:creationId xmlns:a16="http://schemas.microsoft.com/office/drawing/2014/main" id="{2B2191AA-1902-23B9-7F52-0A4EF9D13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4020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65017A67-EEC7-AE25-E775-25721DC5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D4F401D3-E8B3-90E7-2190-38E93DA2F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E90B505A-69B8-15E3-0F71-5EEA11FB6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4310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9767B67D-5A70-4B55-2434-DA5A571AB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7C1905C6-F45E-3AB9-B19D-C98E78776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332EF73E-7CEB-38F6-88BC-2BD2EFF6C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8822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2ADAB665-E1BB-2E04-7BFC-6624B1B38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908E4760-2BA2-240F-B431-1190926A2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4FE18B71-3979-C9F5-4B86-0A0FBD389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4754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AB5135B4-B525-91E2-019D-116C44B8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2A090551-EC7D-2DF0-2A29-9D3214255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7075204F-3A2A-6646-1B43-1D4DD2E8B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62992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414DF633-183F-F12A-6CA8-4F26D326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C192F810-E9A1-4271-5EA8-6337E4630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44714057-864D-0F98-7EE3-F5EBF068C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1852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0">
          <a:extLst>
            <a:ext uri="{FF2B5EF4-FFF2-40B4-BE49-F238E27FC236}">
              <a16:creationId xmlns:a16="http://schemas.microsoft.com/office/drawing/2014/main" id="{9E0075D2-6A85-ACB9-5C47-A6FD3275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11bc263f502_0_2112:notes">
            <a:extLst>
              <a:ext uri="{FF2B5EF4-FFF2-40B4-BE49-F238E27FC236}">
                <a16:creationId xmlns:a16="http://schemas.microsoft.com/office/drawing/2014/main" id="{3B2F5288-DB9B-63C9-7F52-3EAF44C6D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11bc263f502_0_2112:notes">
            <a:extLst>
              <a:ext uri="{FF2B5EF4-FFF2-40B4-BE49-F238E27FC236}">
                <a16:creationId xmlns:a16="http://schemas.microsoft.com/office/drawing/2014/main" id="{5EECDAEE-C949-522C-3C8B-EC19342D91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893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737DE9D5-81D9-6CD6-FA43-C0C7476E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BBF84294-E307-2583-385C-404D85568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06717960-8CCB-ACCF-6A51-6B6ED095B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5522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81AF8CC3-3C1A-5A17-FFBC-7B4CE52C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0AE67938-1E49-CE82-40D2-3F5F2CA46F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AE0965C3-4AE1-3FDC-0929-023E6EF77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07822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0926E50A-BBA0-405D-5B15-A8EE1B23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46677A52-DA0C-E79A-39D1-EC4306E30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FDD193D9-8022-B45D-F6F3-E04D63326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01703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0C0CEDFE-0DAC-F300-75E4-C6510465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B51D25C2-4147-AD53-3437-F5F58DEAD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45071839-A7DF-5FF4-A911-880D33C91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80006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F6F6B649-D8F8-CCC0-C9E5-E1301BE6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77C812CA-E7B6-A564-A8D8-1485CB9B3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D5128418-7DE0-60E1-1F4A-471F5A637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07628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31234D86-B1E3-34C3-C896-C73A302F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295E610B-5033-0C47-0807-4CCAB1C356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5E4D073A-3D78-AB93-3082-EF8012C207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41512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3FCAF3C0-6B20-8CFC-CE5B-5680F22D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DD2FC812-142A-48D5-6365-9C531BC0CF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35796A7E-9399-F7BC-239B-8BD691AB6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58731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0">
          <a:extLst>
            <a:ext uri="{FF2B5EF4-FFF2-40B4-BE49-F238E27FC236}">
              <a16:creationId xmlns:a16="http://schemas.microsoft.com/office/drawing/2014/main" id="{B9AAE5DE-D047-7490-8FC1-5BC87C80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11bc263f502_0_2112:notes">
            <a:extLst>
              <a:ext uri="{FF2B5EF4-FFF2-40B4-BE49-F238E27FC236}">
                <a16:creationId xmlns:a16="http://schemas.microsoft.com/office/drawing/2014/main" id="{2614A85D-F555-367F-0D1A-7BB4C8372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11bc263f502_0_2112:notes">
            <a:extLst>
              <a:ext uri="{FF2B5EF4-FFF2-40B4-BE49-F238E27FC236}">
                <a16:creationId xmlns:a16="http://schemas.microsoft.com/office/drawing/2014/main" id="{3D7EF7E4-6FC7-4591-5218-703E27D5A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92849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9C102954-2397-B838-C7F4-6252DAE7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5FDC35A4-A033-FA4A-51F9-E1A805C83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0609A012-BDFD-86B4-13CA-226ACAFC4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r-HR" dirty="0"/>
              <a:t>U mom dijelu projekta preuzeo sam ulogu </a:t>
            </a:r>
            <a:r>
              <a:rPr lang="hr-HR" dirty="0" err="1"/>
              <a:t>threat</a:t>
            </a:r>
            <a:r>
              <a:rPr lang="hr-HR" dirty="0"/>
              <a:t> </a:t>
            </a:r>
            <a:r>
              <a:rPr lang="hr-HR" dirty="0" err="1"/>
              <a:t>huntera</a:t>
            </a:r>
            <a:r>
              <a:rPr lang="hr-HR" dirty="0"/>
              <a:t> i analitičara.</a:t>
            </a:r>
            <a:br>
              <a:rPr lang="hr-HR" dirty="0"/>
            </a:br>
            <a:r>
              <a:rPr lang="hr-HR" dirty="0"/>
              <a:t>Moj zadatak nije bio izvoditi napade niti implementirati alate, već </a:t>
            </a:r>
            <a:r>
              <a:rPr lang="hr-HR" b="1" dirty="0"/>
              <a:t>analizirati što se stvarno dogodilo u sustavu</a:t>
            </a:r>
            <a:r>
              <a:rPr lang="hr-HR" dirty="0"/>
              <a:t>, kako se napad ponašao kroz faze i koliko je obrana bila učinkovita.</a:t>
            </a:r>
            <a:br>
              <a:rPr lang="hr-HR" dirty="0"/>
            </a:br>
            <a:r>
              <a:rPr lang="hr-HR" dirty="0"/>
              <a:t>Fokus je bio na </a:t>
            </a:r>
            <a:r>
              <a:rPr lang="hr-HR" b="1" dirty="0"/>
              <a:t>korelaciji logova s više sustava</a:t>
            </a:r>
            <a:r>
              <a:rPr lang="hr-HR" dirty="0"/>
              <a:t> – Linuxa, Windowsa, </a:t>
            </a:r>
            <a:r>
              <a:rPr lang="hr-HR" dirty="0" err="1"/>
              <a:t>pfSensea</a:t>
            </a:r>
            <a:r>
              <a:rPr lang="hr-HR" dirty="0"/>
              <a:t> i </a:t>
            </a:r>
            <a:r>
              <a:rPr lang="hr-HR" dirty="0" err="1"/>
              <a:t>Wazuha</a:t>
            </a:r>
            <a:r>
              <a:rPr lang="hr-HR" dirty="0"/>
              <a:t> – kako bi se razumjela cijela </a:t>
            </a:r>
            <a:r>
              <a:rPr lang="hr-HR" dirty="0" err="1"/>
              <a:t>attack</a:t>
            </a:r>
            <a:r>
              <a:rPr lang="hr-HR" dirty="0"/>
              <a:t> </a:t>
            </a:r>
            <a:r>
              <a:rPr lang="hr-HR" dirty="0" err="1"/>
              <a:t>chain</a:t>
            </a:r>
            <a:r>
              <a:rPr lang="hr-HR" dirty="0"/>
              <a:t>, ali i vidjelo gdje postoje detekcijski </a:t>
            </a:r>
            <a:r>
              <a:rPr lang="hr-HR" dirty="0" err="1"/>
              <a:t>gapovi</a:t>
            </a:r>
            <a:r>
              <a:rPr lang="hr-HR" dirty="0"/>
              <a:t>.</a:t>
            </a:r>
            <a:br>
              <a:rPr lang="hr-HR" dirty="0"/>
            </a:br>
            <a:r>
              <a:rPr lang="hr-HR" dirty="0"/>
              <a:t>Krajnji cilj bio je procijeniti </a:t>
            </a:r>
            <a:r>
              <a:rPr lang="hr-HR" b="1" dirty="0"/>
              <a:t>razliku između slabog i ojačanog sustava</a:t>
            </a:r>
            <a:r>
              <a:rPr lang="hr-HR" dirty="0"/>
              <a:t> te dati realnu sliku sigurnosne zrelosti okruženja.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39351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1AB3AD96-CACE-0B19-DFCC-C90F767A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044DCE19-142E-CDB7-E674-A4C1AF509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382A3AC3-1C98-9917-46F9-8FEEEE189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Prije nego što uopće možemo analizirati napad, moramo znati kako sustav izgleda kada </a:t>
            </a:r>
            <a:r>
              <a:rPr lang="hr-HR" b="1" dirty="0"/>
              <a:t>nije pod napadom</a:t>
            </a:r>
            <a:r>
              <a:rPr lang="hr-HR" dirty="0"/>
              <a:t>.</a:t>
            </a:r>
            <a:br>
              <a:rPr lang="hr-HR" dirty="0"/>
            </a:br>
            <a:r>
              <a:rPr lang="hr-HR" dirty="0" err="1"/>
              <a:t>Baseline</a:t>
            </a:r>
            <a:r>
              <a:rPr lang="hr-HR" dirty="0"/>
              <a:t> mi je služio kao referentna točka za sve kasnije faze.</a:t>
            </a:r>
            <a:br>
              <a:rPr lang="hr-HR" dirty="0"/>
            </a:br>
            <a:r>
              <a:rPr lang="hr-HR" dirty="0"/>
              <a:t>Dokumentirao sam normalne procese, </a:t>
            </a:r>
            <a:r>
              <a:rPr lang="hr-HR" dirty="0" err="1"/>
              <a:t>autentikacije</a:t>
            </a:r>
            <a:r>
              <a:rPr lang="hr-HR" dirty="0"/>
              <a:t>, mrežni promet i ponašanje korisnika na Linuxu, Windowsima, </a:t>
            </a:r>
            <a:r>
              <a:rPr lang="hr-HR" dirty="0" err="1"/>
              <a:t>pfSenseu</a:t>
            </a:r>
            <a:r>
              <a:rPr lang="hr-HR" dirty="0"/>
              <a:t> i u </a:t>
            </a:r>
            <a:r>
              <a:rPr lang="hr-HR" dirty="0" err="1"/>
              <a:t>Wazuhu</a:t>
            </a:r>
            <a:r>
              <a:rPr lang="hr-HR" dirty="0"/>
              <a:t>.</a:t>
            </a:r>
            <a:br>
              <a:rPr lang="hr-HR" dirty="0"/>
            </a:br>
            <a:r>
              <a:rPr lang="hr-HR" dirty="0"/>
              <a:t>Bez takvog </a:t>
            </a:r>
            <a:r>
              <a:rPr lang="hr-HR" dirty="0" err="1"/>
              <a:t>baselinea</a:t>
            </a:r>
            <a:r>
              <a:rPr lang="hr-HR" dirty="0"/>
              <a:t>, </a:t>
            </a:r>
            <a:r>
              <a:rPr lang="hr-HR" dirty="0" err="1"/>
              <a:t>threat</a:t>
            </a:r>
            <a:r>
              <a:rPr lang="hr-HR" dirty="0"/>
              <a:t> </a:t>
            </a:r>
            <a:r>
              <a:rPr lang="hr-HR" dirty="0" err="1"/>
              <a:t>hunting</a:t>
            </a:r>
            <a:r>
              <a:rPr lang="hr-HR" dirty="0"/>
              <a:t> se svodi na pogađanje, a ne na analizu.</a:t>
            </a:r>
            <a:br>
              <a:rPr lang="hr-HR" dirty="0"/>
            </a:br>
            <a:r>
              <a:rPr lang="hr-HR" dirty="0"/>
              <a:t>Zato je cijela analiza </a:t>
            </a:r>
            <a:r>
              <a:rPr lang="hr-HR" dirty="0" err="1"/>
              <a:t>Phase</a:t>
            </a:r>
            <a:r>
              <a:rPr lang="hr-HR" dirty="0"/>
              <a:t> 1 i </a:t>
            </a:r>
            <a:r>
              <a:rPr lang="hr-HR" dirty="0" err="1"/>
              <a:t>Phase</a:t>
            </a:r>
            <a:r>
              <a:rPr lang="hr-HR" dirty="0"/>
              <a:t> 2 direktno uspoređivana s ovim početnim stanjem.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Slike: </a:t>
            </a:r>
            <a:r>
              <a:rPr lang="hr-HR" dirty="0" err="1"/>
              <a:t>wazuh</a:t>
            </a:r>
            <a:r>
              <a:rPr lang="hr-HR" dirty="0"/>
              <a:t> agenti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2938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AE0B26B4-B2DC-BE8B-E34E-61D4A795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DCC3A55A-1D9A-8EF2-6D49-0E41E97509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FF67F47D-C1BD-F654-C656-C02BE24FB0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r-HR" dirty="0"/>
              <a:t>Tijekom </a:t>
            </a:r>
            <a:r>
              <a:rPr lang="hr-HR" dirty="0" err="1"/>
              <a:t>baseline</a:t>
            </a:r>
            <a:r>
              <a:rPr lang="hr-HR" dirty="0"/>
              <a:t> faze definirao sam što smatram normalnim ponašanjem za svaki dio sustava.</a:t>
            </a:r>
            <a:br>
              <a:rPr lang="hr-HR" dirty="0"/>
            </a:br>
            <a:r>
              <a:rPr lang="hr-HR" dirty="0"/>
              <a:t>Na Linuxu sam gledao uobičajene SSH prijave i legitimno </a:t>
            </a:r>
            <a:r>
              <a:rPr lang="hr-HR" dirty="0" err="1"/>
              <a:t>sudo</a:t>
            </a:r>
            <a:r>
              <a:rPr lang="hr-HR" dirty="0"/>
              <a:t> korištenje bez eskalacija.</a:t>
            </a:r>
            <a:br>
              <a:rPr lang="hr-HR" dirty="0"/>
            </a:br>
            <a:r>
              <a:rPr lang="hr-HR" dirty="0"/>
              <a:t>Na Windows radnoj stanici fokus je bio na standardne logine, normalne procese i očekivane RDP sesije.</a:t>
            </a:r>
            <a:br>
              <a:rPr lang="hr-HR" dirty="0"/>
            </a:br>
            <a:r>
              <a:rPr lang="hr-HR" dirty="0"/>
              <a:t>Na mrežnoj razini, </a:t>
            </a:r>
            <a:r>
              <a:rPr lang="hr-HR" dirty="0" err="1"/>
              <a:t>pfSense</a:t>
            </a:r>
            <a:r>
              <a:rPr lang="hr-HR" dirty="0"/>
              <a:t> je pokazivao tipičan </a:t>
            </a:r>
            <a:r>
              <a:rPr lang="hr-HR" dirty="0" err="1"/>
              <a:t>outbound</a:t>
            </a:r>
            <a:r>
              <a:rPr lang="hr-HR" dirty="0"/>
              <a:t> promet poput HTTPS-a, DNS-a i NTP-a, bez neočekivanih </a:t>
            </a:r>
            <a:r>
              <a:rPr lang="hr-HR" dirty="0" err="1"/>
              <a:t>inbound</a:t>
            </a:r>
            <a:r>
              <a:rPr lang="hr-HR" dirty="0"/>
              <a:t> konekcija.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Wazuhu</a:t>
            </a:r>
            <a:r>
              <a:rPr lang="hr-HR" dirty="0"/>
              <a:t> sam provjerio da se svi logovi ispravno prikupljaju i da nema kritičnih </a:t>
            </a:r>
            <a:r>
              <a:rPr lang="hr-HR" dirty="0" err="1"/>
              <a:t>alerta</a:t>
            </a:r>
            <a:r>
              <a:rPr lang="hr-HR" dirty="0"/>
              <a:t> prije napada.</a:t>
            </a:r>
            <a:br>
              <a:rPr lang="hr-HR" dirty="0"/>
            </a:br>
            <a:r>
              <a:rPr lang="hr-HR" dirty="0"/>
              <a:t>Ova slika “normalnog” ponašanja bila je osnova za prepoznavanje anomalija u sljedećoj fazi.</a:t>
            </a:r>
          </a:p>
          <a:p>
            <a:pPr marL="158750" indent="0">
              <a:buNone/>
            </a:pPr>
            <a:endParaRPr lang="hr-HR" dirty="0"/>
          </a:p>
          <a:p>
            <a:pPr marL="158750" indent="0">
              <a:buNone/>
            </a:pPr>
            <a:r>
              <a:rPr lang="hr-HR" dirty="0"/>
              <a:t>Gornja slika: </a:t>
            </a:r>
            <a:r>
              <a:rPr lang="hr-HR" dirty="0" err="1"/>
              <a:t>wazuh</a:t>
            </a:r>
            <a:r>
              <a:rPr lang="hr-HR" dirty="0"/>
              <a:t> usluge koje rade</a:t>
            </a:r>
          </a:p>
          <a:p>
            <a:pPr marL="158750" indent="0">
              <a:buNone/>
            </a:pPr>
            <a:r>
              <a:rPr lang="hr-HR" dirty="0"/>
              <a:t>Donja </a:t>
            </a:r>
            <a:r>
              <a:rPr lang="hr-HR" dirty="0" err="1"/>
              <a:t>slika:linux</a:t>
            </a:r>
            <a:r>
              <a:rPr lang="hr-HR" dirty="0"/>
              <a:t> auth.log sa sesijama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28177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FCFD875F-AEEC-1CE2-2183-3E554F04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5C4D2F77-E0B9-A452-848F-6651A1BC2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13BBEC82-F75E-8DE1-5240-9A71BFD8B8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r-HR" dirty="0"/>
              <a:t>Nakon što je </a:t>
            </a:r>
            <a:r>
              <a:rPr lang="hr-HR" dirty="0" err="1"/>
              <a:t>baseline</a:t>
            </a:r>
            <a:r>
              <a:rPr lang="hr-HR" dirty="0"/>
              <a:t> definiran, u </a:t>
            </a:r>
            <a:r>
              <a:rPr lang="hr-HR" dirty="0" err="1"/>
              <a:t>Phase</a:t>
            </a:r>
            <a:r>
              <a:rPr lang="hr-HR" dirty="0"/>
              <a:t> 1 jasno se vidi odstupanje od normalnog ponašanja.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auth.logu</a:t>
            </a:r>
            <a:r>
              <a:rPr lang="hr-HR" dirty="0"/>
              <a:t> se pojavljuju uspješne SSH prijave koje ranije nisu bile prisutne.</a:t>
            </a:r>
            <a:br>
              <a:rPr lang="hr-HR" dirty="0"/>
            </a:br>
            <a:r>
              <a:rPr lang="hr-HR" dirty="0"/>
              <a:t>Zatim slijedi </a:t>
            </a:r>
            <a:r>
              <a:rPr lang="hr-HR" dirty="0" err="1"/>
              <a:t>sudo</a:t>
            </a:r>
            <a:r>
              <a:rPr lang="hr-HR" dirty="0"/>
              <a:t> eskalacija bez unosa lozinke, što je direktna posljedica loše konfiguracije.</a:t>
            </a:r>
            <a:br>
              <a:rPr lang="hr-HR" dirty="0"/>
            </a:br>
            <a:r>
              <a:rPr lang="hr-HR" dirty="0"/>
              <a:t>Pristup datoteci </a:t>
            </a:r>
            <a:r>
              <a:rPr lang="hr-H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hr-H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r>
              <a:rPr lang="hr-H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hr-HR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shadow</a:t>
            </a:r>
            <a:r>
              <a:rPr lang="hr-HR" dirty="0"/>
              <a:t> potvrđuje kompromitaciju sustava.</a:t>
            </a:r>
            <a:br>
              <a:rPr lang="hr-HR" dirty="0"/>
            </a:br>
            <a:r>
              <a:rPr lang="hr-HR" dirty="0"/>
              <a:t>Ove promjene su jasno vidljive upravo zato što smo prethodno definirali </a:t>
            </a:r>
            <a:r>
              <a:rPr lang="hr-HR" dirty="0" err="1"/>
              <a:t>baseline</a:t>
            </a:r>
            <a:r>
              <a:rPr lang="hr-HR" dirty="0"/>
              <a:t>.</a:t>
            </a:r>
          </a:p>
          <a:p>
            <a:pPr marL="158750" indent="0">
              <a:buNone/>
            </a:pPr>
            <a:r>
              <a:rPr lang="hr-HR" b="1" dirty="0"/>
              <a:t>Donja slika</a:t>
            </a:r>
            <a:r>
              <a:rPr lang="hr-HR" dirty="0"/>
              <a:t>: auth.log </a:t>
            </a:r>
            <a:r>
              <a:rPr lang="hr-HR" dirty="0" err="1"/>
              <a:t>linux</a:t>
            </a:r>
            <a:r>
              <a:rPr lang="hr-HR" dirty="0"/>
              <a:t> - uspješnu </a:t>
            </a:r>
            <a:r>
              <a:rPr lang="hr-HR" dirty="0" err="1"/>
              <a:t>autentikaciju</a:t>
            </a:r>
            <a:r>
              <a:rPr lang="hr-HR" dirty="0"/>
              <a:t> korisnika.</a:t>
            </a:r>
          </a:p>
          <a:p>
            <a:pPr marL="158750" indent="0">
              <a:buNone/>
            </a:pPr>
            <a:r>
              <a:rPr lang="hr-HR" b="1" dirty="0"/>
              <a:t>Gornja slika</a:t>
            </a:r>
            <a:r>
              <a:rPr lang="hr-HR" dirty="0"/>
              <a:t>: </a:t>
            </a:r>
            <a:r>
              <a:rPr lang="hr-HR" dirty="0" err="1"/>
              <a:t>Wazuh</a:t>
            </a:r>
            <a:r>
              <a:rPr lang="hr-HR" dirty="0"/>
              <a:t> SIEM-a, gdje se pojavljuje kao sigurnosni </a:t>
            </a:r>
            <a:r>
              <a:rPr lang="hr-HR" dirty="0" err="1"/>
              <a:t>alert</a:t>
            </a:r>
            <a:r>
              <a:rPr lang="hr-HR" dirty="0"/>
              <a:t> s pripadajućim pravilom i kontekstom.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40097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89D5B5EC-7407-5AA9-62AC-8A0B64ED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72BFBE66-8283-6BEB-1B77-E02A8631B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D4876E4D-E20C-7A1C-6B72-DD52E7009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r-HR" dirty="0"/>
              <a:t>Lateralno kretanje nisam promatrao izolirano, već kroz korelaciju više sustava.</a:t>
            </a:r>
            <a:br>
              <a:rPr lang="hr-HR" dirty="0"/>
            </a:br>
            <a:r>
              <a:rPr lang="hr-HR" dirty="0"/>
              <a:t>Na Linuxu su kompromitirani vjerodajnici, a zatim su se na Windows sustavu pojavili neuspješni i uspješni pokušaji prijave.</a:t>
            </a:r>
            <a:br>
              <a:rPr lang="hr-HR" dirty="0"/>
            </a:br>
            <a:r>
              <a:rPr lang="hr-HR" dirty="0"/>
              <a:t>Windows Event Logovi potvrđuju uspješan mrežni </a:t>
            </a:r>
            <a:r>
              <a:rPr lang="hr-HR" dirty="0" err="1"/>
              <a:t>logon</a:t>
            </a:r>
            <a:r>
              <a:rPr lang="hr-HR" dirty="0"/>
              <a:t>, a kasnije i kreiranje servisa, što ukazuje na </a:t>
            </a:r>
            <a:r>
              <a:rPr lang="hr-HR" dirty="0" err="1"/>
              <a:t>persistence</a:t>
            </a:r>
            <a:r>
              <a:rPr lang="hr-HR" dirty="0"/>
              <a:t>.</a:t>
            </a:r>
            <a:br>
              <a:rPr lang="hr-HR" dirty="0"/>
            </a:br>
            <a:r>
              <a:rPr lang="hr-HR" dirty="0"/>
              <a:t>Time je potvrđeno da se napad nije zaustavio na jednom sustavu, već se proširio unutar okruženja.</a:t>
            </a:r>
          </a:p>
          <a:p>
            <a:pPr marL="158750" indent="0">
              <a:buNone/>
            </a:pPr>
            <a:r>
              <a:rPr lang="hr-HR" b="1" dirty="0"/>
              <a:t>Slika: Ovdje vidimo Windows Event ID 7045, koji se generira kada se na sustavu kreira nova Windows usluga.</a:t>
            </a:r>
            <a:br>
              <a:rPr lang="hr-HR" b="1" dirty="0"/>
            </a:br>
            <a:r>
              <a:rPr lang="hr-HR" dirty="0"/>
              <a:t>Tijekom </a:t>
            </a:r>
            <a:r>
              <a:rPr lang="hr-HR" dirty="0" err="1"/>
              <a:t>Phase</a:t>
            </a:r>
            <a:r>
              <a:rPr lang="hr-HR" dirty="0"/>
              <a:t> 1 napada, nakon lateralnog kretanja s Linux hosta, napadač je na Windows sustavu kreirao servis s nasumičnim imenom.</a:t>
            </a:r>
            <a:br>
              <a:rPr lang="hr-HR" dirty="0"/>
            </a:br>
            <a:r>
              <a:rPr lang="hr-HR" dirty="0"/>
              <a:t>Servis se izvršava pod </a:t>
            </a:r>
            <a:r>
              <a:rPr lang="hr-HR" b="1" dirty="0" err="1"/>
              <a:t>LocalSystem</a:t>
            </a:r>
            <a:r>
              <a:rPr lang="hr-HR" dirty="0"/>
              <a:t> računom, što znači da ima najviše moguće ovlasti na sustavu.</a:t>
            </a:r>
            <a:br>
              <a:rPr lang="hr-HR" dirty="0"/>
            </a:br>
            <a:r>
              <a:rPr lang="hr-HR" dirty="0"/>
              <a:t>Putanja izvršne datoteke nije povezana s legitimnim softverom, što je jak indikator zlonamjerne aktivnosti.</a:t>
            </a:r>
            <a:br>
              <a:rPr lang="hr-HR" dirty="0"/>
            </a:br>
            <a:r>
              <a:rPr lang="hr-HR" dirty="0"/>
              <a:t>Ovakav događaj predstavlja jasan </a:t>
            </a:r>
            <a:r>
              <a:rPr lang="hr-HR" b="1" dirty="0" err="1"/>
              <a:t>persistence</a:t>
            </a:r>
            <a:r>
              <a:rPr lang="hr-HR" b="1" dirty="0"/>
              <a:t> mehanizam</a:t>
            </a:r>
            <a:r>
              <a:rPr lang="hr-HR" dirty="0"/>
              <a:t>, a ujedno potvrđuje uspješan lateralni napad.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7494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6349AAF3-F8B4-1972-F4FC-C5F1A9B92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5FCA2650-9CBD-4AE0-4C43-5B3650040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41C04A85-8C70-8503-90B0-FB1607DC7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 smo ponovili iste napadačke tehnike kao u </a:t>
            </a:r>
            <a:r>
              <a:rPr lang="hr-HR" dirty="0" err="1"/>
              <a:t>Phase</a:t>
            </a:r>
            <a:r>
              <a:rPr lang="hr-HR" dirty="0"/>
              <a:t> 1, ali nad već očvrsnutim sustavom.</a:t>
            </a:r>
            <a:br>
              <a:rPr lang="hr-HR" dirty="0"/>
            </a:br>
            <a:r>
              <a:rPr lang="hr-HR" dirty="0"/>
              <a:t>Na Linux </a:t>
            </a:r>
            <a:r>
              <a:rPr lang="hr-HR" dirty="0" err="1"/>
              <a:t>hostu</a:t>
            </a:r>
            <a:r>
              <a:rPr lang="hr-HR" dirty="0"/>
              <a:t> vidimo neuspjele SSH </a:t>
            </a:r>
            <a:r>
              <a:rPr lang="hr-HR" dirty="0" err="1"/>
              <a:t>autentikacije</a:t>
            </a:r>
            <a:r>
              <a:rPr lang="hr-HR" dirty="0"/>
              <a:t>, bez mogućnosti eskalacije privilegija.</a:t>
            </a:r>
            <a:br>
              <a:rPr lang="hr-HR" dirty="0"/>
            </a:br>
            <a:r>
              <a:rPr lang="hr-HR" dirty="0"/>
              <a:t>Pokušaji zloupotrebe </a:t>
            </a:r>
            <a:r>
              <a:rPr lang="hr-HR" dirty="0" err="1"/>
              <a:t>sudo</a:t>
            </a:r>
            <a:r>
              <a:rPr lang="hr-HR" dirty="0"/>
              <a:t> mehanizma više ne prolaze, a osjetljive datoteke ostaju nedostupne.</a:t>
            </a:r>
            <a:br>
              <a:rPr lang="hr-HR" dirty="0"/>
            </a:br>
            <a:r>
              <a:rPr lang="hr-HR" dirty="0"/>
              <a:t>Budući da napad ne prolazi početnu fazu, lateralno kretanje prema Windows sustavu uopće se ne događa.</a:t>
            </a:r>
            <a:br>
              <a:rPr lang="hr-HR" dirty="0"/>
            </a:br>
            <a:r>
              <a:rPr lang="hr-HR" dirty="0"/>
              <a:t>Ovo jasno pokazuje da </a:t>
            </a:r>
            <a:r>
              <a:rPr lang="hr-HR" dirty="0" err="1"/>
              <a:t>hardening</a:t>
            </a:r>
            <a:r>
              <a:rPr lang="hr-HR" dirty="0"/>
              <a:t> nije samo smanjio detekcijski šum, nego je promijenio sam ishod napada.</a:t>
            </a:r>
          </a:p>
          <a:p>
            <a:pPr marL="158750" indent="0">
              <a:buNone/>
            </a:pPr>
            <a:r>
              <a:rPr lang="hr-HR" b="1" dirty="0"/>
              <a:t>Gornja slika: </a:t>
            </a:r>
            <a:r>
              <a:rPr lang="hr-HR" dirty="0"/>
              <a:t>Na ovoj slici vidimo neuspješan pokušaj korištenja </a:t>
            </a:r>
            <a:r>
              <a:rPr lang="hr-HR" dirty="0" err="1"/>
              <a:t>sudo</a:t>
            </a:r>
            <a:r>
              <a:rPr lang="hr-HR" dirty="0"/>
              <a:t> privilegija.</a:t>
            </a:r>
            <a:br>
              <a:rPr lang="hr-HR" dirty="0"/>
            </a:br>
            <a:r>
              <a:rPr lang="hr-HR" dirty="0"/>
              <a:t>Za razliku od </a:t>
            </a:r>
            <a:r>
              <a:rPr lang="hr-HR" dirty="0" err="1"/>
              <a:t>Phase</a:t>
            </a:r>
            <a:r>
              <a:rPr lang="hr-HR" dirty="0"/>
              <a:t> 1, gdje je eskalacija bila moguća bez lozinke, ovdje je pokušaj blokiran.</a:t>
            </a:r>
            <a:br>
              <a:rPr lang="hr-HR" dirty="0"/>
            </a:br>
            <a:r>
              <a:rPr lang="hr-HR" dirty="0"/>
              <a:t>Time je onemogućena daljnja kompromitacija sustava.</a:t>
            </a:r>
          </a:p>
          <a:p>
            <a:pPr marL="158750" indent="0">
              <a:buNone/>
            </a:pPr>
            <a:r>
              <a:rPr lang="hr-HR" b="1" dirty="0"/>
              <a:t>Donja slika:</a:t>
            </a:r>
            <a:r>
              <a:rPr lang="hr-HR" dirty="0"/>
              <a:t> neuspjele SSH </a:t>
            </a:r>
            <a:r>
              <a:rPr lang="hr-HR" dirty="0" err="1"/>
              <a:t>autentikacijske</a:t>
            </a:r>
            <a:r>
              <a:rPr lang="hr-HR" dirty="0"/>
              <a:t> pokušaje za istog korisnika koji je u </a:t>
            </a:r>
            <a:r>
              <a:rPr lang="hr-HR" dirty="0" err="1"/>
              <a:t>Phase</a:t>
            </a:r>
            <a:r>
              <a:rPr lang="hr-HR" dirty="0"/>
              <a:t> 1 imao uspješan pristup. Ovo pokazuje da su nakon </a:t>
            </a:r>
            <a:r>
              <a:rPr lang="hr-HR" dirty="0" err="1"/>
              <a:t>hardeninga</a:t>
            </a:r>
            <a:r>
              <a:rPr lang="hr-HR" dirty="0"/>
              <a:t> vjerodajnice postale neupotrebljive i da napad ne prolazi ni prvu fazu.</a:t>
            </a:r>
          </a:p>
          <a:p>
            <a:pPr marL="15875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8147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3">
          <a:extLst>
            <a:ext uri="{FF2B5EF4-FFF2-40B4-BE49-F238E27FC236}">
              <a16:creationId xmlns:a16="http://schemas.microsoft.com/office/drawing/2014/main" id="{F8C6DFC7-02D9-56B1-083D-D2D945084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g13ef048210c_0_228:notes">
            <a:extLst>
              <a:ext uri="{FF2B5EF4-FFF2-40B4-BE49-F238E27FC236}">
                <a16:creationId xmlns:a16="http://schemas.microsoft.com/office/drawing/2014/main" id="{6F0620D9-007C-FB4A-2E38-A4342AB3D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5" name="Google Shape;3875;g13ef048210c_0_228:notes">
            <a:extLst>
              <a:ext uri="{FF2B5EF4-FFF2-40B4-BE49-F238E27FC236}">
                <a16:creationId xmlns:a16="http://schemas.microsoft.com/office/drawing/2014/main" id="{736D0F37-1AAD-1B16-990F-79A78645C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Ova tablica sažima cijeli projekt u jednom pogledu.</a:t>
            </a:r>
            <a:br>
              <a:rPr lang="hr-HR" dirty="0"/>
            </a:br>
            <a:r>
              <a:rPr lang="hr-HR" dirty="0"/>
              <a:t>Prikazuje kako se </a:t>
            </a:r>
            <a:r>
              <a:rPr lang="hr-HR" b="1" dirty="0"/>
              <a:t>isti napadni scenarij</a:t>
            </a:r>
            <a:r>
              <a:rPr lang="hr-HR" dirty="0"/>
              <a:t> ponašao prije i nakon primjene sigurnosnih mjera.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1 inicijalni SSH pristup bio je uspješan jer su korišteni važeći vjerodajnici.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2, iako su korištene iste tehnike, pristup više nije bio moguć, što znači da je napad zaustavljen već u početnoj fazi.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r-HR" dirty="0"/>
              <a:t>Nakon pristupa u </a:t>
            </a:r>
            <a:r>
              <a:rPr lang="hr-HR" dirty="0" err="1"/>
              <a:t>Phase</a:t>
            </a:r>
            <a:r>
              <a:rPr lang="hr-HR" dirty="0"/>
              <a:t> 1, eskalacija privilegija bila je moguća zbog loše </a:t>
            </a:r>
            <a:r>
              <a:rPr lang="hr-HR" dirty="0" err="1"/>
              <a:t>sudo</a:t>
            </a:r>
            <a:r>
              <a:rPr lang="hr-HR" dirty="0"/>
              <a:t> konfiguracije.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 isti pokušaji eskalacije su blokirani, čime je onemogućeno preuzimanje administratorskih ovlasti.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1 napadač je uspio pristupiti datotekama koje sadrže </a:t>
            </a:r>
            <a:r>
              <a:rPr lang="hr-HR" dirty="0" err="1"/>
              <a:t>hashirane</a:t>
            </a:r>
            <a:r>
              <a:rPr lang="hr-HR" dirty="0"/>
              <a:t> lozinke.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 taj korak nije ostvaren jer napadač nikada nije dobio potrebne ovlasti.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1 kompromis na Linuxu omogućio je daljnje širenje napada na Windows sustav.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 lateralno kretanje se uopće ne događa jer je napad zaustavljen ranije, a mrežna segmentacija dodatno ograničava širenje.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hr-H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1 napadač je uspostavio trajnu prisutnost na sustavu.</a:t>
            </a: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 takvi mehanizmi nisu uspostavljeni jer napad nije imao priliku prijeći inicijalne faze.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62507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>
          <a:extLst>
            <a:ext uri="{FF2B5EF4-FFF2-40B4-BE49-F238E27FC236}">
              <a16:creationId xmlns:a16="http://schemas.microsoft.com/office/drawing/2014/main" id="{0B770E20-F04C-345B-5577-C0755E6B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>
            <a:extLst>
              <a:ext uri="{FF2B5EF4-FFF2-40B4-BE49-F238E27FC236}">
                <a16:creationId xmlns:a16="http://schemas.microsoft.com/office/drawing/2014/main" id="{7F9067C4-2BEE-5E64-E01D-7EB8BCEA2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>
            <a:extLst>
              <a:ext uri="{FF2B5EF4-FFF2-40B4-BE49-F238E27FC236}">
                <a16:creationId xmlns:a16="http://schemas.microsoft.com/office/drawing/2014/main" id="{C8A63B66-B009-EF44-BC5E-3FD74B3C4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hr-HR" dirty="0"/>
              <a:t>Ova prezentacija pokazuje cijeli sigurnosni ciklus jednog realnog okruženja.</a:t>
            </a:r>
            <a:br>
              <a:rPr lang="hr-HR" dirty="0"/>
            </a:br>
            <a:r>
              <a:rPr lang="hr-HR" dirty="0"/>
              <a:t>Prvo smo uspostavili </a:t>
            </a:r>
            <a:r>
              <a:rPr lang="hr-HR" dirty="0" err="1"/>
              <a:t>baseline</a:t>
            </a:r>
            <a:r>
              <a:rPr lang="hr-HR" dirty="0"/>
              <a:t> kako bismo znali što je normalno ponašanje sustava.</a:t>
            </a:r>
          </a:p>
          <a:p>
            <a:pPr marL="158750" indent="0">
              <a:buNone/>
            </a:pPr>
            <a:br>
              <a:rPr lang="hr-HR" dirty="0"/>
            </a:br>
            <a:r>
              <a:rPr lang="hr-HR" dirty="0"/>
              <a:t>Zatim smo u </a:t>
            </a:r>
            <a:r>
              <a:rPr lang="hr-HR" dirty="0" err="1"/>
              <a:t>Phase</a:t>
            </a:r>
            <a:r>
              <a:rPr lang="hr-HR" dirty="0"/>
              <a:t> 1 dokazali da dokumentirane slabosti zaista omogućuju uspješan napad.</a:t>
            </a:r>
          </a:p>
          <a:p>
            <a:pPr marL="158750" indent="0">
              <a:buNone/>
            </a:pPr>
            <a:br>
              <a:rPr lang="hr-HR" dirty="0"/>
            </a:br>
            <a:r>
              <a:rPr lang="hr-HR" dirty="0"/>
              <a:t>U </a:t>
            </a:r>
            <a:r>
              <a:rPr lang="hr-HR" dirty="0" err="1"/>
              <a:t>Phase</a:t>
            </a:r>
            <a:r>
              <a:rPr lang="hr-HR" dirty="0"/>
              <a:t> 2 pokazali smo da primijenjene sigurnosne mjere ne samo da poboljšavaju detekciju, nego u potpunosti mijenjaju ishod napada.</a:t>
            </a:r>
            <a:br>
              <a:rPr lang="hr-HR" dirty="0"/>
            </a:br>
            <a:r>
              <a:rPr lang="hr-HR" dirty="0"/>
              <a:t>Kao </a:t>
            </a:r>
            <a:r>
              <a:rPr lang="hr-HR" dirty="0" err="1"/>
              <a:t>threat</a:t>
            </a:r>
            <a:r>
              <a:rPr lang="hr-HR" dirty="0"/>
              <a:t> </a:t>
            </a:r>
            <a:r>
              <a:rPr lang="hr-HR" dirty="0" err="1"/>
              <a:t>hunter</a:t>
            </a:r>
            <a:r>
              <a:rPr lang="hr-HR" dirty="0"/>
              <a:t>, najvažniji zaključak je da se sigurnost ne mjeri brojem </a:t>
            </a:r>
            <a:r>
              <a:rPr lang="hr-HR" dirty="0" err="1"/>
              <a:t>alerta</a:t>
            </a:r>
            <a:r>
              <a:rPr lang="hr-HR" dirty="0"/>
              <a:t>, već time uspijeva li napad ili ne.</a:t>
            </a:r>
          </a:p>
          <a:p>
            <a:pPr marL="158750" indent="0">
              <a:buNone/>
            </a:pPr>
            <a:br>
              <a:rPr lang="hr-HR" dirty="0"/>
            </a:br>
            <a:r>
              <a:rPr lang="hr-HR" dirty="0"/>
              <a:t>U ovom slučaju, napadni putovi su uspješno eliminirani, a preostali nedostaci jasno su identificirani kao buduće točke poboljšanja.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40104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0">
          <a:extLst>
            <a:ext uri="{FF2B5EF4-FFF2-40B4-BE49-F238E27FC236}">
              <a16:creationId xmlns:a16="http://schemas.microsoft.com/office/drawing/2014/main" id="{40782E0E-65AF-244C-69D8-91D618E0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1" name="Google Shape;4991;g12937d05419_0_723:notes">
            <a:extLst>
              <a:ext uri="{FF2B5EF4-FFF2-40B4-BE49-F238E27FC236}">
                <a16:creationId xmlns:a16="http://schemas.microsoft.com/office/drawing/2014/main" id="{B987156D-C0CC-AAAD-ABA3-986477A00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2" name="Google Shape;4992;g12937d05419_0_723:notes">
            <a:extLst>
              <a:ext uri="{FF2B5EF4-FFF2-40B4-BE49-F238E27FC236}">
                <a16:creationId xmlns:a16="http://schemas.microsoft.com/office/drawing/2014/main" id="{7C2F5002-80A1-84C6-18BB-57AC08027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245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3"/>
          <p:cNvSpPr txBox="1">
            <a:spLocks noGrp="1"/>
          </p:cNvSpPr>
          <p:nvPr>
            <p:ph type="title" idx="2" hasCustomPrompt="1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1" name="Google Shape;131;p3"/>
          <p:cNvSpPr txBox="1">
            <a:spLocks noGrp="1"/>
          </p:cNvSpPr>
          <p:nvPr>
            <p:ph type="subTitle" idx="1"/>
          </p:nvPr>
        </p:nvSpPr>
        <p:spPr>
          <a:xfrm>
            <a:off x="4228073" y="3530819"/>
            <a:ext cx="2762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"/>
          <p:cNvSpPr/>
          <p:nvPr/>
        </p:nvSpPr>
        <p:spPr>
          <a:xfrm rot="7304698">
            <a:off x="-784688" y="3074934"/>
            <a:ext cx="2252826" cy="2252826"/>
          </a:xfrm>
          <a:prstGeom prst="blockArc">
            <a:avLst>
              <a:gd name="adj1" fmla="val 674761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 rot="-8399579">
            <a:off x="6604599" y="-1415011"/>
            <a:ext cx="3375739" cy="3375739"/>
          </a:xfrm>
          <a:prstGeom prst="blockArc">
            <a:avLst>
              <a:gd name="adj1" fmla="val 1080000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3"/>
          <p:cNvGrpSpPr/>
          <p:nvPr/>
        </p:nvGrpSpPr>
        <p:grpSpPr>
          <a:xfrm>
            <a:off x="7261903" y="658823"/>
            <a:ext cx="2227589" cy="726958"/>
            <a:chOff x="6972150" y="711750"/>
            <a:chExt cx="1039375" cy="339193"/>
          </a:xfrm>
        </p:grpSpPr>
        <p:sp>
          <p:nvSpPr>
            <p:cNvPr id="135" name="Google Shape;135;p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3"/>
          <p:cNvGrpSpPr/>
          <p:nvPr/>
        </p:nvGrpSpPr>
        <p:grpSpPr>
          <a:xfrm>
            <a:off x="-280170" y="-141409"/>
            <a:ext cx="2227589" cy="1527191"/>
            <a:chOff x="5519300" y="372750"/>
            <a:chExt cx="1039375" cy="712575"/>
          </a:xfrm>
        </p:grpSpPr>
        <p:sp>
          <p:nvSpPr>
            <p:cNvPr id="168" name="Google Shape;168;p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3"/>
          <p:cNvGrpSpPr/>
          <p:nvPr/>
        </p:nvGrpSpPr>
        <p:grpSpPr>
          <a:xfrm>
            <a:off x="-154771" y="4691203"/>
            <a:ext cx="2227588" cy="726522"/>
            <a:chOff x="3620725" y="372750"/>
            <a:chExt cx="1039375" cy="338989"/>
          </a:xfrm>
        </p:grpSpPr>
        <p:sp>
          <p:nvSpPr>
            <p:cNvPr id="236" name="Google Shape;236;p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8719456" y="513232"/>
            <a:ext cx="326167" cy="2227568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7"/>
          <p:cNvSpPr/>
          <p:nvPr/>
        </p:nvSpPr>
        <p:spPr>
          <a:xfrm rot="-8909883">
            <a:off x="7380555" y="-922593"/>
            <a:ext cx="2453841" cy="2453841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7130050" y="-541850"/>
            <a:ext cx="1759500" cy="1759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6696355" y="334491"/>
            <a:ext cx="2227589" cy="1527191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07678" y="-187590"/>
            <a:ext cx="2227589" cy="726958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624140" y="-419150"/>
            <a:ext cx="15270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"/>
          <p:cNvSpPr/>
          <p:nvPr/>
        </p:nvSpPr>
        <p:spPr>
          <a:xfrm rot="372611">
            <a:off x="5475589" y="4165080"/>
            <a:ext cx="2204738" cy="2204738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7"/>
          <p:cNvGrpSpPr/>
          <p:nvPr/>
        </p:nvGrpSpPr>
        <p:grpSpPr>
          <a:xfrm>
            <a:off x="5832004" y="3999491"/>
            <a:ext cx="2227588" cy="726522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"/>
          <p:cNvSpPr txBox="1">
            <a:spLocks noGrp="1"/>
          </p:cNvSpPr>
          <p:nvPr>
            <p:ph type="title"/>
          </p:nvPr>
        </p:nvSpPr>
        <p:spPr>
          <a:xfrm>
            <a:off x="713400" y="3110425"/>
            <a:ext cx="2941500" cy="13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3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9" name="Google Shape;919;p13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3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1" name="Google Shape;921;p13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3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3" name="Google Shape;923;p13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3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5" name="Google Shape;925;p13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9" hasCustomPrompt="1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7" name="Google Shape;927;p13"/>
          <p:cNvSpPr txBox="1">
            <a:spLocks noGrp="1"/>
          </p:cNvSpPr>
          <p:nvPr>
            <p:ph type="title" idx="13" hasCustomPrompt="1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9" name="Google Shape;9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30" name="Google Shape;93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37325" y="3653261"/>
            <a:ext cx="2885125" cy="1921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13"/>
          <p:cNvGrpSpPr/>
          <p:nvPr/>
        </p:nvGrpSpPr>
        <p:grpSpPr>
          <a:xfrm rot="5400000">
            <a:off x="-1082747" y="1310115"/>
            <a:ext cx="2227588" cy="726522"/>
            <a:chOff x="3857800" y="1143286"/>
            <a:chExt cx="1039375" cy="338989"/>
          </a:xfrm>
        </p:grpSpPr>
        <p:sp>
          <p:nvSpPr>
            <p:cNvPr id="932" name="Google Shape;932;p1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3"/>
          <p:cNvGrpSpPr/>
          <p:nvPr/>
        </p:nvGrpSpPr>
        <p:grpSpPr>
          <a:xfrm flipH="1">
            <a:off x="8430779" y="791666"/>
            <a:ext cx="2227588" cy="726522"/>
            <a:chOff x="3620725" y="372750"/>
            <a:chExt cx="1039375" cy="338989"/>
          </a:xfrm>
        </p:grpSpPr>
        <p:sp>
          <p:nvSpPr>
            <p:cNvPr id="963" name="Google Shape;963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13"/>
          <p:cNvSpPr/>
          <p:nvPr/>
        </p:nvSpPr>
        <p:spPr>
          <a:xfrm rot="8403335">
            <a:off x="-394847" y="-476389"/>
            <a:ext cx="1410650" cy="1410650"/>
          </a:xfrm>
          <a:prstGeom prst="blockArc">
            <a:avLst>
              <a:gd name="adj1" fmla="val 10800000"/>
              <a:gd name="adj2" fmla="val 138617"/>
              <a:gd name="adj3" fmla="val 21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3"/>
          <p:cNvSpPr/>
          <p:nvPr/>
        </p:nvSpPr>
        <p:spPr>
          <a:xfrm>
            <a:off x="-395376" y="-2179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13"/>
          <p:cNvGrpSpPr/>
          <p:nvPr/>
        </p:nvGrpSpPr>
        <p:grpSpPr>
          <a:xfrm>
            <a:off x="7753454" y="-41534"/>
            <a:ext cx="2227588" cy="726522"/>
            <a:chOff x="3620725" y="372750"/>
            <a:chExt cx="1039375" cy="338989"/>
          </a:xfrm>
        </p:grpSpPr>
        <p:sp>
          <p:nvSpPr>
            <p:cNvPr id="999" name="Google Shape;999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3899975"/>
            <a:ext cx="1041075" cy="109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13"/>
          <p:cNvGrpSpPr/>
          <p:nvPr/>
        </p:nvGrpSpPr>
        <p:grpSpPr>
          <a:xfrm>
            <a:off x="782362" y="4049869"/>
            <a:ext cx="317072" cy="126020"/>
            <a:chOff x="4481802" y="1143286"/>
            <a:chExt cx="147943" cy="58800"/>
          </a:xfrm>
        </p:grpSpPr>
        <p:sp>
          <p:nvSpPr>
            <p:cNvPr id="1038" name="Google Shape;10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13"/>
          <p:cNvGrpSpPr/>
          <p:nvPr/>
        </p:nvGrpSpPr>
        <p:grpSpPr>
          <a:xfrm>
            <a:off x="4850553" y="4656385"/>
            <a:ext cx="2227589" cy="726958"/>
            <a:chOff x="6972150" y="711750"/>
            <a:chExt cx="1039375" cy="339193"/>
          </a:xfrm>
        </p:grpSpPr>
        <p:sp>
          <p:nvSpPr>
            <p:cNvPr id="1041" name="Google Shape;1041;p1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2" name="Google Shape;10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775" y="280525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3"/>
          <p:cNvSpPr/>
          <p:nvPr/>
        </p:nvSpPr>
        <p:spPr>
          <a:xfrm rot="999904">
            <a:off x="3358951" y="4439227"/>
            <a:ext cx="2408148" cy="2408148"/>
          </a:xfrm>
          <a:prstGeom prst="blockArc">
            <a:avLst>
              <a:gd name="adj1" fmla="val 10800000"/>
              <a:gd name="adj2" fmla="val 122097"/>
              <a:gd name="adj3" fmla="val 1551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_1_1_2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716077" y="3282010"/>
            <a:ext cx="2227568" cy="326604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8066614" y="3302903"/>
            <a:ext cx="1986206" cy="1986646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8098025" y="3495149"/>
            <a:ext cx="1534706" cy="153472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466385" y="950324"/>
            <a:ext cx="2255655" cy="2255712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951810" y="1473801"/>
            <a:ext cx="1742900" cy="174295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7876900" y="1636706"/>
            <a:ext cx="2036537" cy="726522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381821" y="-103359"/>
            <a:ext cx="2227588" cy="726522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4597" y="3947683"/>
            <a:ext cx="665700" cy="11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936100" y="4678764"/>
            <a:ext cx="2593314" cy="2593371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1537977" y="4676626"/>
            <a:ext cx="2003838" cy="20038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32"/>
          <p:cNvSpPr txBox="1">
            <a:spLocks noGrp="1"/>
          </p:cNvSpPr>
          <p:nvPr>
            <p:ph type="title"/>
          </p:nvPr>
        </p:nvSpPr>
        <p:spPr>
          <a:xfrm>
            <a:off x="4830825" y="217275"/>
            <a:ext cx="3600000" cy="13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7200"/>
            </a:lvl9pPr>
          </a:lstStyle>
          <a:p>
            <a:endParaRPr/>
          </a:p>
        </p:txBody>
      </p:sp>
      <p:sp>
        <p:nvSpPr>
          <p:cNvPr id="2789" name="Google Shape;2789;p32"/>
          <p:cNvSpPr txBox="1">
            <a:spLocks noGrp="1"/>
          </p:cNvSpPr>
          <p:nvPr>
            <p:ph type="title" idx="2"/>
          </p:nvPr>
        </p:nvSpPr>
        <p:spPr>
          <a:xfrm>
            <a:off x="4830825" y="1282050"/>
            <a:ext cx="20412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90" name="Google Shape;2790;p32"/>
          <p:cNvSpPr/>
          <p:nvPr/>
        </p:nvSpPr>
        <p:spPr>
          <a:xfrm rot="5400000">
            <a:off x="763475" y="3171600"/>
            <a:ext cx="3658500" cy="3658500"/>
          </a:xfrm>
          <a:prstGeom prst="blockArc">
            <a:avLst>
              <a:gd name="adj1" fmla="val 4302561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1" name="Google Shape;2791;p32"/>
          <p:cNvGrpSpPr/>
          <p:nvPr/>
        </p:nvGrpSpPr>
        <p:grpSpPr>
          <a:xfrm flipH="1">
            <a:off x="-964754" y="4328167"/>
            <a:ext cx="2227588" cy="726522"/>
            <a:chOff x="5608450" y="1680311"/>
            <a:chExt cx="1039375" cy="338989"/>
          </a:xfrm>
        </p:grpSpPr>
        <p:sp>
          <p:nvSpPr>
            <p:cNvPr id="2792" name="Google Shape;2792;p3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8" name="Google Shape;2828;p32"/>
          <p:cNvGrpSpPr/>
          <p:nvPr/>
        </p:nvGrpSpPr>
        <p:grpSpPr>
          <a:xfrm rot="5400000">
            <a:off x="7826581" y="2680428"/>
            <a:ext cx="2227588" cy="726522"/>
            <a:chOff x="3857800" y="1143286"/>
            <a:chExt cx="1039375" cy="338989"/>
          </a:xfrm>
        </p:grpSpPr>
        <p:sp>
          <p:nvSpPr>
            <p:cNvPr id="2829" name="Google Shape;2829;p32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2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2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2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2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2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2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2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2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2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2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2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2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2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2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2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2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2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2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2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2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2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2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2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2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2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2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2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2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2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9" name="Google Shape;2859;p32"/>
          <p:cNvSpPr/>
          <p:nvPr/>
        </p:nvSpPr>
        <p:spPr>
          <a:xfrm>
            <a:off x="8227526" y="1449726"/>
            <a:ext cx="2458500" cy="2458500"/>
          </a:xfrm>
          <a:prstGeom prst="blockArc">
            <a:avLst>
              <a:gd name="adj1" fmla="val 4302561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6" r:id="rId5"/>
    <p:sldLayoutId id="2147483658" r:id="rId6"/>
    <p:sldLayoutId id="2147483659" r:id="rId7"/>
    <p:sldLayoutId id="2147483671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46150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38"/>
          <p:cNvGrpSpPr/>
          <p:nvPr/>
        </p:nvGrpSpPr>
        <p:grpSpPr>
          <a:xfrm>
            <a:off x="251783" y="4096069"/>
            <a:ext cx="2227588" cy="726522"/>
            <a:chOff x="3799000" y="1820400"/>
            <a:chExt cx="1039375" cy="338989"/>
          </a:xfrm>
        </p:grpSpPr>
        <p:sp>
          <p:nvSpPr>
            <p:cNvPr id="3091" name="Google Shape;3091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7" name="Google Shape;3127;p38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8" name="Google Shape;3148;p38"/>
          <p:cNvSpPr txBox="1">
            <a:spLocks noGrp="1"/>
          </p:cNvSpPr>
          <p:nvPr>
            <p:ph type="ctrTitle"/>
          </p:nvPr>
        </p:nvSpPr>
        <p:spPr>
          <a:xfrm>
            <a:off x="4052311" y="918625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6000" dirty="0"/>
              <a:t>Adversary Simulation with MITRE CALDERA</a:t>
            </a:r>
            <a:endParaRPr sz="6000" dirty="0"/>
          </a:p>
        </p:txBody>
      </p:sp>
      <p:sp>
        <p:nvSpPr>
          <p:cNvPr id="3149" name="Google Shape;3149;p38"/>
          <p:cNvSpPr txBox="1">
            <a:spLocks noGrp="1"/>
          </p:cNvSpPr>
          <p:nvPr>
            <p:ph type="subTitle" idx="1"/>
          </p:nvPr>
        </p:nvSpPr>
        <p:spPr>
          <a:xfrm>
            <a:off x="6343500" y="3052299"/>
            <a:ext cx="1972800" cy="1043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Marko Sokser, Luka Kukec, Luka Šulentić, Luka Hrupec </a:t>
            </a:r>
            <a:endParaRPr dirty="0"/>
          </a:p>
        </p:txBody>
      </p:sp>
      <p:pic>
        <p:nvPicPr>
          <p:cNvPr id="3151" name="Google Shape;31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5468" y="918625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100" y="1780150"/>
            <a:ext cx="923250" cy="12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3" name="Google Shape;315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125" y="2726398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4" name="Google Shape;315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8075" y="2867343"/>
            <a:ext cx="923250" cy="116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/>
          <p:cNvSpPr/>
          <p:nvPr/>
        </p:nvSpPr>
        <p:spPr>
          <a:xfrm>
            <a:off x="4902551" y="30771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/>
          <p:cNvSpPr/>
          <p:nvPr/>
        </p:nvSpPr>
        <p:spPr>
          <a:xfrm>
            <a:off x="4902551" y="180465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/>
          <p:cNvSpPr/>
          <p:nvPr/>
        </p:nvSpPr>
        <p:spPr>
          <a:xfrm>
            <a:off x="1242351" y="3074263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/>
          <p:cNvSpPr/>
          <p:nvPr/>
        </p:nvSpPr>
        <p:spPr>
          <a:xfrm>
            <a:off x="1242351" y="17853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Sadržaj </a:t>
            </a:r>
            <a:endParaRPr dirty="0"/>
          </a:p>
        </p:txBody>
      </p:sp>
      <p:sp>
        <p:nvSpPr>
          <p:cNvPr id="3186" name="Google Shape;3186;p40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 err="1"/>
              <a:t>Infrastrukturni</a:t>
            </a:r>
            <a:r>
              <a:rPr lang="en-US" sz="2000" dirty="0"/>
              <a:t> </a:t>
            </a:r>
            <a:r>
              <a:rPr lang="en-US" sz="2000" dirty="0" err="1"/>
              <a:t>Inženjer</a:t>
            </a:r>
            <a:endParaRPr lang="en-US" sz="2000" b="0" dirty="0"/>
          </a:p>
        </p:txBody>
      </p:sp>
      <p:sp>
        <p:nvSpPr>
          <p:cNvPr id="3187" name="Google Shape;3187;p40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Kreiranje entraprise okruženja za projekt </a:t>
            </a:r>
            <a:endParaRPr dirty="0"/>
          </a:p>
        </p:txBody>
      </p:sp>
      <p:sp>
        <p:nvSpPr>
          <p:cNvPr id="3188" name="Google Shape;3188;p40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Blue </a:t>
            </a:r>
            <a:r>
              <a:rPr lang="hr-HR" dirty="0" err="1"/>
              <a:t>team</a:t>
            </a:r>
            <a:r>
              <a:rPr lang="hr-HR" dirty="0"/>
              <a:t> </a:t>
            </a:r>
            <a:r>
              <a:rPr lang="hr-HR" dirty="0" err="1"/>
              <a:t>inžinjer</a:t>
            </a:r>
            <a:endParaRPr dirty="0"/>
          </a:p>
        </p:txBody>
      </p:sp>
      <p:sp>
        <p:nvSpPr>
          <p:cNvPr id="3189" name="Google Shape;3189;p40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Implementacija sustava za nadzor i detekciju napada</a:t>
            </a:r>
            <a:endParaRPr dirty="0"/>
          </a:p>
        </p:txBody>
      </p:sp>
      <p:sp>
        <p:nvSpPr>
          <p:cNvPr id="3190" name="Google Shape;3190;p40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Red Team </a:t>
            </a:r>
            <a:r>
              <a:rPr lang="en-US" dirty="0" err="1"/>
              <a:t>inženjer</a:t>
            </a:r>
            <a:endParaRPr dirty="0"/>
          </a:p>
        </p:txBody>
      </p:sp>
      <p:sp>
        <p:nvSpPr>
          <p:cNvPr id="3191" name="Google Shape;3191;p40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730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l-PL" dirty="0"/>
              <a:t>Kreiranje napada na entraprise okruženje za projekt</a:t>
            </a:r>
            <a:endParaRPr dirty="0"/>
          </a:p>
        </p:txBody>
      </p:sp>
      <p:sp>
        <p:nvSpPr>
          <p:cNvPr id="3192" name="Google Shape;3192;p40"/>
          <p:cNvSpPr txBox="1">
            <a:spLocks noGrp="1"/>
          </p:cNvSpPr>
          <p:nvPr>
            <p:ph type="title" idx="7"/>
          </p:nvPr>
        </p:nvSpPr>
        <p:spPr>
          <a:xfrm>
            <a:off x="5792349" y="2954144"/>
            <a:ext cx="246706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 err="1"/>
              <a:t>Threat</a:t>
            </a:r>
            <a:r>
              <a:rPr lang="hr-HR" dirty="0"/>
              <a:t> </a:t>
            </a:r>
            <a:r>
              <a:rPr lang="hr-HR" dirty="0" err="1"/>
              <a:t>hunter</a:t>
            </a:r>
            <a:r>
              <a:rPr lang="hr-HR" dirty="0"/>
              <a:t>/Analitičar</a:t>
            </a:r>
            <a:endParaRPr dirty="0"/>
          </a:p>
        </p:txBody>
      </p:sp>
      <p:sp>
        <p:nvSpPr>
          <p:cNvPr id="3193" name="Google Shape;3193;p40"/>
          <p:cNvSpPr txBox="1">
            <a:spLocks noGrp="1"/>
          </p:cNvSpPr>
          <p:nvPr>
            <p:ph type="subTitle" idx="8"/>
          </p:nvPr>
        </p:nvSpPr>
        <p:spPr>
          <a:xfrm>
            <a:off x="5792349" y="3376626"/>
            <a:ext cx="2973963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 Analiza ponašanje napada kroz sve faze te procijeniti učinkovitost detekcije i obrane</a:t>
            </a:r>
            <a:endParaRPr dirty="0"/>
          </a:p>
        </p:txBody>
      </p:sp>
      <p:sp>
        <p:nvSpPr>
          <p:cNvPr id="3194" name="Google Shape;3194;p40"/>
          <p:cNvSpPr txBox="1">
            <a:spLocks noGrp="1"/>
          </p:cNvSpPr>
          <p:nvPr>
            <p:ph type="title" idx="9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5" name="Google Shape;3195;p40"/>
          <p:cNvSpPr txBox="1">
            <a:spLocks noGrp="1"/>
          </p:cNvSpPr>
          <p:nvPr>
            <p:ph type="title" idx="13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96" name="Google Shape;3196;p40"/>
          <p:cNvSpPr txBox="1">
            <a:spLocks noGrp="1"/>
          </p:cNvSpPr>
          <p:nvPr>
            <p:ph type="title" idx="14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7" name="Google Shape;3197;p40"/>
          <p:cNvSpPr txBox="1">
            <a:spLocks noGrp="1"/>
          </p:cNvSpPr>
          <p:nvPr>
            <p:ph type="title" idx="15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4" name="Google Shape;3524;p43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525" name="Google Shape;3525;p43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3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3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3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3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3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3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3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3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3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3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3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3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3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3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3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3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3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3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3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3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3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3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3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3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3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3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3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3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3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3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3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3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3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3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3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1" name="Google Shape;3561;p43"/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43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dirty="0" err="1"/>
              <a:t>Infrastrukturni</a:t>
            </a:r>
            <a:r>
              <a:rPr lang="en-US" sz="2800" dirty="0"/>
              <a:t> </a:t>
            </a:r>
            <a:r>
              <a:rPr lang="en-US" sz="2800" dirty="0" err="1"/>
              <a:t>Inženjer</a:t>
            </a:r>
            <a:endParaRPr sz="2800" dirty="0"/>
          </a:p>
        </p:txBody>
      </p:sp>
      <p:sp>
        <p:nvSpPr>
          <p:cNvPr id="3563" name="Google Shape;3563;p43"/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567" name="Google Shape;3567;p43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568" name="Google Shape;3568;p43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3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3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3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3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3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3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3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3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3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3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3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3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3835;p87">
            <a:extLst>
              <a:ext uri="{FF2B5EF4-FFF2-40B4-BE49-F238E27FC236}">
                <a16:creationId xmlns:a16="http://schemas.microsoft.com/office/drawing/2014/main" id="{9D94AEC0-2FF6-BB74-9699-DB87F0DBFC33}"/>
              </a:ext>
            </a:extLst>
          </p:cNvPr>
          <p:cNvGrpSpPr/>
          <p:nvPr/>
        </p:nvGrpSpPr>
        <p:grpSpPr>
          <a:xfrm>
            <a:off x="3794510" y="751550"/>
            <a:ext cx="2055011" cy="1475258"/>
            <a:chOff x="7978465" y="1969392"/>
            <a:chExt cx="361147" cy="360797"/>
          </a:xfrm>
        </p:grpSpPr>
        <p:sp>
          <p:nvSpPr>
            <p:cNvPr id="5" name="Google Shape;13836;p87">
              <a:extLst>
                <a:ext uri="{FF2B5EF4-FFF2-40B4-BE49-F238E27FC236}">
                  <a16:creationId xmlns:a16="http://schemas.microsoft.com/office/drawing/2014/main" id="{0C02F633-5E36-DE2F-0B7F-11422EC2BD24}"/>
                </a:ext>
              </a:extLst>
            </p:cNvPr>
            <p:cNvSpPr/>
            <p:nvPr/>
          </p:nvSpPr>
          <p:spPr>
            <a:xfrm>
              <a:off x="8136871" y="2285821"/>
              <a:ext cx="44368" cy="44368"/>
            </a:xfrm>
            <a:custGeom>
              <a:avLst/>
              <a:gdLst/>
              <a:ahLst/>
              <a:cxnLst/>
              <a:rect l="l" t="t" r="r" b="b"/>
              <a:pathLst>
                <a:path w="1394" h="1394" extrusionOk="0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7;p87">
              <a:extLst>
                <a:ext uri="{FF2B5EF4-FFF2-40B4-BE49-F238E27FC236}">
                  <a16:creationId xmlns:a16="http://schemas.microsoft.com/office/drawing/2014/main" id="{9D1DA7F7-A04C-8DDA-E694-1648B717F5CE}"/>
                </a:ext>
              </a:extLst>
            </p:cNvPr>
            <p:cNvSpPr/>
            <p:nvPr/>
          </p:nvSpPr>
          <p:spPr>
            <a:xfrm>
              <a:off x="8210010" y="2121719"/>
              <a:ext cx="56112" cy="5611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8;p87">
              <a:extLst>
                <a:ext uri="{FF2B5EF4-FFF2-40B4-BE49-F238E27FC236}">
                  <a16:creationId xmlns:a16="http://schemas.microsoft.com/office/drawing/2014/main" id="{CA7A1777-AD31-17CA-60A4-4EDFF022DE2C}"/>
                </a:ext>
              </a:extLst>
            </p:cNvPr>
            <p:cNvSpPr/>
            <p:nvPr/>
          </p:nvSpPr>
          <p:spPr>
            <a:xfrm>
              <a:off x="8051987" y="2121719"/>
              <a:ext cx="55730" cy="56112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9;p87">
              <a:extLst>
                <a:ext uri="{FF2B5EF4-FFF2-40B4-BE49-F238E27FC236}">
                  <a16:creationId xmlns:a16="http://schemas.microsoft.com/office/drawing/2014/main" id="{844F69E1-2873-BF30-D24F-7C954CCDB22D}"/>
                </a:ext>
              </a:extLst>
            </p:cNvPr>
            <p:cNvSpPr/>
            <p:nvPr/>
          </p:nvSpPr>
          <p:spPr>
            <a:xfrm>
              <a:off x="7978465" y="2285821"/>
              <a:ext cx="44749" cy="44368"/>
            </a:xfrm>
            <a:custGeom>
              <a:avLst/>
              <a:gdLst/>
              <a:ahLst/>
              <a:cxnLst/>
              <a:rect l="l" t="t" r="r" b="b"/>
              <a:pathLst>
                <a:path w="1406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40;p87">
              <a:extLst>
                <a:ext uri="{FF2B5EF4-FFF2-40B4-BE49-F238E27FC236}">
                  <a16:creationId xmlns:a16="http://schemas.microsoft.com/office/drawing/2014/main" id="{7830D451-BA95-FECA-8CEB-68C1B8BFABDE}"/>
                </a:ext>
              </a:extLst>
            </p:cNvPr>
            <p:cNvSpPr/>
            <p:nvPr/>
          </p:nvSpPr>
          <p:spPr>
            <a:xfrm>
              <a:off x="8294894" y="2285821"/>
              <a:ext cx="44718" cy="44368"/>
            </a:xfrm>
            <a:custGeom>
              <a:avLst/>
              <a:gdLst/>
              <a:ahLst/>
              <a:cxnLst/>
              <a:rect l="l" t="t" r="r" b="b"/>
              <a:pathLst>
                <a:path w="1405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41;p87">
              <a:extLst>
                <a:ext uri="{FF2B5EF4-FFF2-40B4-BE49-F238E27FC236}">
                  <a16:creationId xmlns:a16="http://schemas.microsoft.com/office/drawing/2014/main" id="{24294F29-727C-FBA9-26FA-3401C15574F7}"/>
                </a:ext>
              </a:extLst>
            </p:cNvPr>
            <p:cNvSpPr/>
            <p:nvPr/>
          </p:nvSpPr>
          <p:spPr>
            <a:xfrm>
              <a:off x="8119811" y="1969392"/>
              <a:ext cx="78455" cy="78487"/>
            </a:xfrm>
            <a:custGeom>
              <a:avLst/>
              <a:gdLst/>
              <a:ahLst/>
              <a:cxnLst/>
              <a:rect l="l" t="t" r="r" b="b"/>
              <a:pathLst>
                <a:path w="2465" h="2466" extrusionOk="0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42;p87">
              <a:extLst>
                <a:ext uri="{FF2B5EF4-FFF2-40B4-BE49-F238E27FC236}">
                  <a16:creationId xmlns:a16="http://schemas.microsoft.com/office/drawing/2014/main" id="{C69AB969-2295-8E35-B949-BBA924079A96}"/>
                </a:ext>
              </a:extLst>
            </p:cNvPr>
            <p:cNvSpPr/>
            <p:nvPr/>
          </p:nvSpPr>
          <p:spPr>
            <a:xfrm>
              <a:off x="8012202" y="2189575"/>
              <a:ext cx="134917" cy="89690"/>
            </a:xfrm>
            <a:custGeom>
              <a:avLst/>
              <a:gdLst/>
              <a:ahLst/>
              <a:cxnLst/>
              <a:rect l="l" t="t" r="r" b="b"/>
              <a:pathLst>
                <a:path w="4239" h="2818" extrusionOk="0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43;p87">
              <a:extLst>
                <a:ext uri="{FF2B5EF4-FFF2-40B4-BE49-F238E27FC236}">
                  <a16:creationId xmlns:a16="http://schemas.microsoft.com/office/drawing/2014/main" id="{E6C21CC0-ADC7-59B7-3A33-60F985B31DF3}"/>
                </a:ext>
              </a:extLst>
            </p:cNvPr>
            <p:cNvSpPr/>
            <p:nvPr/>
          </p:nvSpPr>
          <p:spPr>
            <a:xfrm>
              <a:off x="8099346" y="2059973"/>
              <a:ext cx="119385" cy="56016"/>
            </a:xfrm>
            <a:custGeom>
              <a:avLst/>
              <a:gdLst/>
              <a:ahLst/>
              <a:cxnLst/>
              <a:rect l="l" t="t" r="r" b="b"/>
              <a:pathLst>
                <a:path w="3751" h="1760" extrusionOk="0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44;p87">
              <a:extLst>
                <a:ext uri="{FF2B5EF4-FFF2-40B4-BE49-F238E27FC236}">
                  <a16:creationId xmlns:a16="http://schemas.microsoft.com/office/drawing/2014/main" id="{E7DED467-10CE-712F-CEFD-EEE345E39633}"/>
                </a:ext>
              </a:extLst>
            </p:cNvPr>
            <p:cNvSpPr/>
            <p:nvPr/>
          </p:nvSpPr>
          <p:spPr>
            <a:xfrm>
              <a:off x="8170194" y="2189925"/>
              <a:ext cx="135331" cy="89849"/>
            </a:xfrm>
            <a:custGeom>
              <a:avLst/>
              <a:gdLst/>
              <a:ahLst/>
              <a:cxnLst/>
              <a:rect l="l" t="t" r="r" b="b"/>
              <a:pathLst>
                <a:path w="4252" h="2823" extrusionOk="0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hr-HR" b="0" dirty="0"/>
              <a:t>M</a:t>
            </a:r>
            <a:r>
              <a:rPr lang="en-US" b="0" dirty="0" err="1"/>
              <a:t>isija</a:t>
            </a:r>
            <a:endParaRPr lang="en-US" b="0" dirty="0"/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4294967295"/>
          </p:nvPr>
        </p:nvSpPr>
        <p:spPr>
          <a:xfrm>
            <a:off x="713275" y="1376225"/>
            <a:ext cx="366825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/>
              <a:t> 6 međusobno povezanih virtualnih strojeva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/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/>
              <a:t>-Realistična enterprise mreža (TechNovaNet 10.10.0.0/24)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/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/>
              <a:t> Namjerno ranjiva za Red Team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/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/>
              <a:t>U potpunosti nadzirana za Blue Team</a:t>
            </a:r>
          </a:p>
          <a:p>
            <a:pPr marL="0" lvl="0" indent="0"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b="0" i="0" u="none" strike="noStrike" cap="non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91B414-263C-8744-0492-6C83E0A6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332" y="254234"/>
            <a:ext cx="2292543" cy="2036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456136-218C-F21E-9C7D-601941D4C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393" y="2407548"/>
            <a:ext cx="3404332" cy="2555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Mrežna</a:t>
            </a:r>
            <a:r>
              <a:rPr lang="en-US" dirty="0"/>
              <a:t> </a:t>
            </a:r>
            <a:r>
              <a:rPr lang="hr-HR" dirty="0"/>
              <a:t>o</a:t>
            </a:r>
            <a:r>
              <a:rPr lang="en-US" dirty="0" err="1"/>
              <a:t>snova</a:t>
            </a:r>
            <a:r>
              <a:rPr lang="en-US" dirty="0"/>
              <a:t> - </a:t>
            </a:r>
            <a:r>
              <a:rPr lang="en-US" dirty="0" err="1"/>
              <a:t>pfSense</a:t>
            </a:r>
            <a:r>
              <a:rPr lang="en-US" dirty="0"/>
              <a:t> </a:t>
            </a:r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C28D49-D4B5-2C4C-D759-396241340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061" y="1265262"/>
            <a:ext cx="3542714" cy="1809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39A661-6BFA-71E4-41DC-0F6069576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096" y="3204527"/>
            <a:ext cx="3542714" cy="18686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322788-E175-2F9A-980C-B6611A57D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399" y="1938973"/>
            <a:ext cx="4107411" cy="2139385"/>
          </a:xfrm>
          <a:prstGeom prst="rect">
            <a:avLst/>
          </a:prstGeom>
        </p:spPr>
      </p:pic>
      <p:sp>
        <p:nvSpPr>
          <p:cNvPr id="3" name="Google Shape;3602;p45">
            <a:extLst>
              <a:ext uri="{FF2B5EF4-FFF2-40B4-BE49-F238E27FC236}">
                <a16:creationId xmlns:a16="http://schemas.microsoft.com/office/drawing/2014/main" id="{416081C5-DD61-DC2B-2019-D780D50DC7F2}"/>
              </a:ext>
            </a:extLst>
          </p:cNvPr>
          <p:cNvSpPr txBox="1">
            <a:spLocks/>
          </p:cNvSpPr>
          <p:nvPr/>
        </p:nvSpPr>
        <p:spPr>
          <a:xfrm>
            <a:off x="456615" y="1604151"/>
            <a:ext cx="3819273" cy="320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>
              <a:buFontTx/>
              <a:buChar char="-"/>
            </a:pPr>
            <a:r>
              <a:rPr lang="en-US" dirty="0" err="1"/>
              <a:t>pfSense</a:t>
            </a:r>
            <a:r>
              <a:rPr lang="en-US" dirty="0"/>
              <a:t> Firewall - </a:t>
            </a:r>
            <a:r>
              <a:rPr lang="en-US" dirty="0" err="1"/>
              <a:t>Centralni</a:t>
            </a:r>
            <a:r>
              <a:rPr lang="en-US" dirty="0"/>
              <a:t> Gateway (10.10.0.1)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 </a:t>
            </a:r>
            <a:r>
              <a:rPr lang="en-US" dirty="0" err="1"/>
              <a:t>Mrežni</a:t>
            </a:r>
            <a:r>
              <a:rPr lang="en-US" dirty="0"/>
              <a:t> </a:t>
            </a:r>
            <a:r>
              <a:rPr lang="en-US" dirty="0" err="1"/>
              <a:t>Adapteri</a:t>
            </a:r>
            <a:r>
              <a:rPr lang="en-US" dirty="0"/>
              <a:t> (WAN, LAN, </a:t>
            </a:r>
            <a:r>
              <a:rPr lang="en-US" dirty="0" err="1"/>
              <a:t>Upravljanje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Siguran</a:t>
            </a:r>
            <a:r>
              <a:rPr lang="en-US" dirty="0"/>
              <a:t> admin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Host-Only </a:t>
            </a:r>
            <a:r>
              <a:rPr lang="en-US" dirty="0" err="1"/>
              <a:t>adaptera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Hostname: </a:t>
            </a:r>
            <a:r>
              <a:rPr lang="en-US" dirty="0" err="1"/>
              <a:t>pfsense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Domain: </a:t>
            </a:r>
            <a:r>
              <a:rPr lang="en-US" dirty="0" err="1"/>
              <a:t>technova.lab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DNS </a:t>
            </a:r>
            <a:r>
              <a:rPr lang="en-US" dirty="0" err="1"/>
              <a:t>serveri</a:t>
            </a:r>
            <a:r>
              <a:rPr lang="en-US" dirty="0"/>
              <a:t>: 1.1.1.1 </a:t>
            </a:r>
            <a:r>
              <a:rPr lang="en-US" dirty="0" err="1"/>
              <a:t>i</a:t>
            </a:r>
            <a:r>
              <a:rPr lang="en-US" dirty="0"/>
              <a:t> 8.8.8.8</a:t>
            </a:r>
          </a:p>
          <a:p>
            <a:pPr>
              <a:buFontTx/>
              <a:buChar char="-"/>
            </a:pPr>
            <a:r>
              <a:rPr lang="en-US" dirty="0" err="1"/>
              <a:t>Vremenska</a:t>
            </a:r>
            <a:r>
              <a:rPr lang="en-US" dirty="0"/>
              <a:t> zona: Europe/Zagreb</a:t>
            </a:r>
          </a:p>
          <a:p>
            <a:pPr>
              <a:buFontTx/>
              <a:buChar char="-"/>
            </a:pPr>
            <a:r>
              <a:rPr lang="en-US" dirty="0"/>
              <a:t>WAN: DHCP (</a:t>
            </a:r>
            <a:r>
              <a:rPr lang="en-US" dirty="0" err="1"/>
              <a:t>automatski</a:t>
            </a:r>
            <a:r>
              <a:rPr lang="en-US" dirty="0"/>
              <a:t> 10.0.2.x)</a:t>
            </a:r>
          </a:p>
          <a:p>
            <a:pPr>
              <a:buFontTx/>
              <a:buChar char="-"/>
            </a:pPr>
            <a:r>
              <a:rPr lang="en-US" dirty="0"/>
              <a:t>LAN: 10.10.0.1/24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5ACABF-5DFC-AA50-3AD7-7BEF6818B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986" y="1286044"/>
            <a:ext cx="5489467" cy="34452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09E0EA9D-DFB7-ADA1-FDD4-40F095C2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DD04E97E-2468-8A88-AC85-7958CDA10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Active Directory </a:t>
            </a:r>
            <a:r>
              <a:rPr lang="hr-HR" dirty="0"/>
              <a:t>o</a:t>
            </a:r>
            <a:r>
              <a:rPr lang="en-US" dirty="0" err="1"/>
              <a:t>kruženje</a:t>
            </a:r>
            <a:endParaRPr lang="en-US" b="0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428BCCB1-49D4-8673-3936-E08CF2ABA4D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334764" cy="2985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Windows Server 2019 Core - Domain Controller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TechNovaNet</a:t>
            </a:r>
            <a:r>
              <a:rPr lang="hr-HR" b="1" dirty="0"/>
              <a:t> </a:t>
            </a:r>
            <a:r>
              <a:rPr lang="en-US" dirty="0" err="1"/>
              <a:t>domena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Integrirane</a:t>
            </a:r>
            <a:r>
              <a:rPr lang="en-US" dirty="0"/>
              <a:t> DNS </a:t>
            </a:r>
            <a:r>
              <a:rPr lang="en-US" dirty="0" err="1"/>
              <a:t>usluge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Ranjivi</a:t>
            </a:r>
            <a:r>
              <a:rPr lang="en-US" dirty="0"/>
              <a:t> </a:t>
            </a:r>
            <a:r>
              <a:rPr lang="en-US" dirty="0" err="1"/>
              <a:t>korisni</a:t>
            </a:r>
            <a:r>
              <a:rPr lang="hr-HR" dirty="0"/>
              <a:t>k employe</a:t>
            </a:r>
            <a:r>
              <a:rPr lang="en-US" dirty="0"/>
              <a:t> (slab</a:t>
            </a:r>
            <a:r>
              <a:rPr lang="hr-HR" dirty="0"/>
              <a:t>a</a:t>
            </a:r>
            <a:r>
              <a:rPr lang="en-US" dirty="0"/>
              <a:t> </a:t>
            </a:r>
            <a:r>
              <a:rPr lang="en-US" dirty="0" err="1"/>
              <a:t>lozink</a:t>
            </a:r>
            <a:r>
              <a:rPr lang="hr-HR" dirty="0"/>
              <a:t>a)</a:t>
            </a:r>
          </a:p>
          <a:p>
            <a:pPr>
              <a:buFontTx/>
              <a:buChar char="-"/>
            </a:pPr>
            <a:endParaRPr lang="en-US" dirty="0"/>
          </a:p>
          <a:p>
            <a:r>
              <a:rPr lang="en-US" dirty="0"/>
              <a:t>- Windows 10 Workstation </a:t>
            </a:r>
            <a:r>
              <a:rPr lang="en-US" dirty="0" err="1"/>
              <a:t>pridružen</a:t>
            </a:r>
            <a:r>
              <a:rPr lang="en-US" dirty="0"/>
              <a:t> </a:t>
            </a:r>
            <a:r>
              <a:rPr lang="en-US" dirty="0" err="1"/>
              <a:t>domeni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BAFCFD-832D-76AB-E72F-9B72929B5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222" y="1243868"/>
            <a:ext cx="5235394" cy="33911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67A6A4-18AF-BB41-2296-278913845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255" y="1916029"/>
            <a:ext cx="4473328" cy="1646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47ADA9-0ACF-DD86-7B8F-375597DCAA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3417" y="3719831"/>
            <a:ext cx="6716062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9DBDC007-787A-14E0-28F0-C494DBEA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D5E67695-6575-6161-111B-7FFA583A7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Ranjivi</a:t>
            </a:r>
            <a:r>
              <a:rPr lang="en-US" dirty="0"/>
              <a:t> Linux </a:t>
            </a:r>
            <a:r>
              <a:rPr lang="hr-HR" dirty="0"/>
              <a:t>s</a:t>
            </a:r>
            <a:r>
              <a:rPr lang="en-US" dirty="0" err="1"/>
              <a:t>erver</a:t>
            </a:r>
            <a:endParaRPr lang="en-US" b="0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42FC7202-A0B0-EC49-C725-2C445827CF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334764" cy="2985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Ubuntu 24.04 LTS (10.10.0.51)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Ranjivi</a:t>
            </a:r>
            <a:r>
              <a:rPr lang="en-US" dirty="0"/>
              <a:t> </a:t>
            </a:r>
            <a:r>
              <a:rPr lang="en-US" dirty="0" err="1"/>
              <a:t>korisnik</a:t>
            </a:r>
            <a:r>
              <a:rPr lang="en-US" dirty="0"/>
              <a:t>: </a:t>
            </a:r>
            <a:r>
              <a:rPr lang="en-US" dirty="0" err="1"/>
              <a:t>webadmin</a:t>
            </a:r>
            <a:r>
              <a:rPr lang="en-US" dirty="0"/>
              <a:t>/Webadmin123!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sudo</a:t>
            </a:r>
            <a:r>
              <a:rPr lang="en-US" dirty="0"/>
              <a:t> NOPASSWD:ALL </a:t>
            </a:r>
            <a:r>
              <a:rPr lang="en-US" dirty="0" err="1"/>
              <a:t>pogrešna</a:t>
            </a:r>
            <a:r>
              <a:rPr lang="en-US" dirty="0"/>
              <a:t> </a:t>
            </a:r>
            <a:r>
              <a:rPr lang="en-US" dirty="0" err="1"/>
              <a:t>konfiguracija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Apache web server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portu</a:t>
            </a:r>
            <a:r>
              <a:rPr lang="en-US" dirty="0"/>
              <a:t> 80</a:t>
            </a:r>
            <a:endParaRPr lang="hr-HR" dirty="0"/>
          </a:p>
          <a:p>
            <a:pPr marL="139700" indent="0"/>
            <a:endParaRPr lang="en-US" dirty="0"/>
          </a:p>
          <a:p>
            <a:r>
              <a:rPr lang="en-US" dirty="0"/>
              <a:t>- SSH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omogućen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password </a:t>
            </a:r>
            <a:r>
              <a:rPr lang="en-US" dirty="0" err="1"/>
              <a:t>autentifikacijom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D114D-449C-F625-682A-E83CC4E1F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827" y="1207889"/>
            <a:ext cx="5113463" cy="8839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D243AF-5658-9A42-5EE8-47CFA758B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339" y="2363694"/>
            <a:ext cx="4359018" cy="188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961445F6-DB3D-D21B-AA51-45F15B08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025C7849-BD52-5AE1-8393-BEC0AE80FC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Automatizacija</a:t>
            </a:r>
            <a:r>
              <a:rPr lang="en-US" dirty="0"/>
              <a:t> </a:t>
            </a:r>
            <a:r>
              <a:rPr lang="hr-HR" dirty="0"/>
              <a:t>n</a:t>
            </a:r>
            <a:r>
              <a:rPr lang="en-US" dirty="0" err="1"/>
              <a:t>apada</a:t>
            </a:r>
            <a:r>
              <a:rPr lang="en-US" dirty="0"/>
              <a:t> - CALDERA</a:t>
            </a:r>
            <a:endParaRPr lang="en-US" b="0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FEB604E7-FF8F-CA49-54B6-3F0633DADDE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334764" cy="2985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 MITRE CALDERA Server (10.10.0.60)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Platforma</a:t>
            </a:r>
            <a:r>
              <a:rPr lang="en-US" dirty="0"/>
              <a:t> za </a:t>
            </a:r>
            <a:r>
              <a:rPr lang="en-US" dirty="0" err="1"/>
              <a:t>automatsku</a:t>
            </a:r>
            <a:r>
              <a:rPr lang="en-US" dirty="0"/>
              <a:t> </a:t>
            </a:r>
            <a:r>
              <a:rPr lang="en-US" dirty="0" err="1"/>
              <a:t>emulaciju</a:t>
            </a:r>
            <a:r>
              <a:rPr lang="en-US" dirty="0"/>
              <a:t> </a:t>
            </a:r>
            <a:r>
              <a:rPr lang="en-US" dirty="0" err="1"/>
              <a:t>protivnika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Sandcat</a:t>
            </a:r>
            <a:r>
              <a:rPr lang="en-US" dirty="0"/>
              <a:t> </a:t>
            </a:r>
            <a:r>
              <a:rPr lang="en-US" dirty="0" err="1"/>
              <a:t>agenti</a:t>
            </a:r>
            <a:r>
              <a:rPr lang="en-US" dirty="0"/>
              <a:t>: Windows + Linux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475CD3-81DC-E04E-C09A-D96D111B0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996" y="1111469"/>
            <a:ext cx="5977658" cy="3422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9274CA-6854-2124-52FF-A776C926D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618" y="1010114"/>
            <a:ext cx="4745272" cy="336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9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69736832-3580-1BE1-03D8-6CA901AC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DDEEB4A6-3BAB-65AD-1FEE-36D05611E0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Sigurnosni</a:t>
            </a:r>
            <a:r>
              <a:rPr lang="en-US" dirty="0"/>
              <a:t> </a:t>
            </a:r>
            <a:r>
              <a:rPr lang="hr-HR" dirty="0"/>
              <a:t>n</a:t>
            </a:r>
            <a:r>
              <a:rPr lang="en-US" dirty="0" err="1"/>
              <a:t>adzor</a:t>
            </a:r>
            <a:r>
              <a:rPr lang="en-US" dirty="0"/>
              <a:t> - </a:t>
            </a:r>
            <a:r>
              <a:rPr lang="en-US" dirty="0" err="1"/>
              <a:t>Wazuh</a:t>
            </a:r>
            <a:r>
              <a:rPr lang="en-US" dirty="0"/>
              <a:t> SIEM</a:t>
            </a:r>
            <a:endParaRPr lang="en-US" b="0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84B3574E-2090-810B-46A3-15B1D73A53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334764" cy="2985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en-US" dirty="0"/>
              <a:t>Mini-</a:t>
            </a:r>
            <a:r>
              <a:rPr lang="en-US" dirty="0" err="1"/>
              <a:t>Wazuh</a:t>
            </a:r>
            <a:r>
              <a:rPr lang="en-US" dirty="0"/>
              <a:t> SIEM (10.10.0.70) - </a:t>
            </a:r>
            <a:r>
              <a:rPr lang="en-US" dirty="0" err="1"/>
              <a:t>optimiziran</a:t>
            </a:r>
            <a:r>
              <a:rPr lang="en-US" dirty="0"/>
              <a:t> za 2GB RAM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Instalirani</a:t>
            </a:r>
            <a:r>
              <a:rPr lang="en-US" dirty="0"/>
              <a:t> </a:t>
            </a:r>
            <a:r>
              <a:rPr lang="en-US" dirty="0" err="1"/>
              <a:t>agenti</a:t>
            </a:r>
            <a:r>
              <a:rPr lang="en-US" dirty="0"/>
              <a:t>: DC, Workstation, Linux Server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Centralizirano</a:t>
            </a:r>
            <a:r>
              <a:rPr lang="en-US" dirty="0"/>
              <a:t> </a:t>
            </a:r>
            <a:r>
              <a:rPr lang="en-US" dirty="0" err="1"/>
              <a:t>prikupljanje</a:t>
            </a:r>
            <a:r>
              <a:rPr lang="en-US" dirty="0"/>
              <a:t> </a:t>
            </a:r>
            <a:r>
              <a:rPr lang="en-US" dirty="0" err="1"/>
              <a:t>logova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korelacija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 marL="13970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Blue Team monitoring </a:t>
            </a:r>
            <a:r>
              <a:rPr lang="en-US" dirty="0" err="1"/>
              <a:t>spreman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FFBE0-9CE4-8B20-1091-9F7075D16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039" y="1034403"/>
            <a:ext cx="3650508" cy="21956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0D5200-94A7-44BF-10C6-CE4CE503C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4346" y="3681248"/>
            <a:ext cx="3291352" cy="1383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593791-02C6-FE7D-D054-4990C0D0D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786" y="1913404"/>
            <a:ext cx="6850305" cy="2195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7DF6A3-2592-4360-455C-D6CAFABD3F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4701" y="2439080"/>
            <a:ext cx="4305673" cy="10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4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8D25C7E3-F4A9-4616-1CB8-5D8A5D4FF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A59BCD75-3981-57CD-CF3E-B714C65F4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Tailscale</a:t>
            </a:r>
            <a:r>
              <a:rPr lang="en-US" dirty="0"/>
              <a:t> VPN </a:t>
            </a:r>
            <a:endParaRPr lang="en-US" b="0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2A174094-723E-3E73-5C01-EA8C6FE5182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334764" cy="29851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Tx/>
              <a:buChar char="-"/>
            </a:pPr>
            <a:r>
              <a:rPr lang="en-US" dirty="0" err="1"/>
              <a:t>Tailscale</a:t>
            </a:r>
            <a:r>
              <a:rPr lang="en-US" dirty="0"/>
              <a:t> VPN za </a:t>
            </a:r>
            <a:r>
              <a:rPr lang="en-US" dirty="0" err="1"/>
              <a:t>siguran</a:t>
            </a:r>
            <a:r>
              <a:rPr lang="en-US" dirty="0"/>
              <a:t> </a:t>
            </a:r>
            <a:r>
              <a:rPr lang="en-US" dirty="0" err="1"/>
              <a:t>daljinski</a:t>
            </a:r>
            <a:r>
              <a:rPr lang="en-US" dirty="0"/>
              <a:t> </a:t>
            </a:r>
            <a:r>
              <a:rPr lang="en-US" dirty="0" err="1"/>
              <a:t>pristup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Bez </a:t>
            </a:r>
            <a:r>
              <a:rPr lang="en-US" dirty="0" err="1"/>
              <a:t>prosljeđivanja</a:t>
            </a:r>
            <a:r>
              <a:rPr lang="en-US" dirty="0"/>
              <a:t> </a:t>
            </a:r>
            <a:r>
              <a:rPr lang="en-US" dirty="0" err="1"/>
              <a:t>portova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javne</a:t>
            </a:r>
            <a:r>
              <a:rPr lang="en-US" dirty="0"/>
              <a:t> IP </a:t>
            </a:r>
            <a:r>
              <a:rPr lang="en-US" dirty="0" err="1"/>
              <a:t>adrese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Svi VM-</a:t>
            </a:r>
            <a:r>
              <a:rPr lang="en-US" dirty="0" err="1"/>
              <a:t>ovi</a:t>
            </a:r>
            <a:r>
              <a:rPr lang="en-US" dirty="0"/>
              <a:t> </a:t>
            </a:r>
            <a:r>
              <a:rPr lang="en-US" dirty="0" err="1"/>
              <a:t>dostupni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SSH/RDP</a:t>
            </a:r>
            <a:endParaRPr lang="hr-HR" dirty="0"/>
          </a:p>
          <a:p>
            <a:pPr>
              <a:buFontTx/>
              <a:buChar char="-"/>
            </a:pPr>
            <a:endParaRPr lang="hr-HR" dirty="0"/>
          </a:p>
          <a:p>
            <a:pPr>
              <a:buFontTx/>
              <a:buChar char="-"/>
            </a:pPr>
            <a:r>
              <a:rPr lang="hr-HR" dirty="0"/>
              <a:t>DC  i Workstation preko RDP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Šifrirana</a:t>
            </a:r>
            <a:r>
              <a:rPr lang="en-US" dirty="0"/>
              <a:t> mesh </a:t>
            </a:r>
            <a:r>
              <a:rPr lang="en-US" dirty="0" err="1"/>
              <a:t>mrež</a:t>
            </a:r>
            <a:endParaRPr lang="hr-HR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856C7-5A03-587E-2B43-E5B5FA665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435" y="1418605"/>
            <a:ext cx="6618340" cy="290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2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>
          <a:extLst>
            <a:ext uri="{FF2B5EF4-FFF2-40B4-BE49-F238E27FC236}">
              <a16:creationId xmlns:a16="http://schemas.microsoft.com/office/drawing/2014/main" id="{9B9893D7-FD6A-FA0C-6D09-7BA82E2A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4" name="Google Shape;3524;p43">
            <a:extLst>
              <a:ext uri="{FF2B5EF4-FFF2-40B4-BE49-F238E27FC236}">
                <a16:creationId xmlns:a16="http://schemas.microsoft.com/office/drawing/2014/main" id="{12248D18-1697-F689-E565-D60546470970}"/>
              </a:ext>
            </a:extLst>
          </p:cNvPr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525" name="Google Shape;3525;p43">
              <a:extLst>
                <a:ext uri="{FF2B5EF4-FFF2-40B4-BE49-F238E27FC236}">
                  <a16:creationId xmlns:a16="http://schemas.microsoft.com/office/drawing/2014/main" id="{A7ECDD68-F971-5F26-D2F2-AC3AB1467545}"/>
                </a:ext>
              </a:extLst>
            </p:cNvPr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3">
              <a:extLst>
                <a:ext uri="{FF2B5EF4-FFF2-40B4-BE49-F238E27FC236}">
                  <a16:creationId xmlns:a16="http://schemas.microsoft.com/office/drawing/2014/main" id="{1D9DD9B9-8A3E-95FF-B20A-4945E998A4FD}"/>
                </a:ext>
              </a:extLst>
            </p:cNvPr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3">
              <a:extLst>
                <a:ext uri="{FF2B5EF4-FFF2-40B4-BE49-F238E27FC236}">
                  <a16:creationId xmlns:a16="http://schemas.microsoft.com/office/drawing/2014/main" id="{00794DAB-CA9C-2361-539F-6AB4A84600ED}"/>
                </a:ext>
              </a:extLst>
            </p:cNvPr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3">
              <a:extLst>
                <a:ext uri="{FF2B5EF4-FFF2-40B4-BE49-F238E27FC236}">
                  <a16:creationId xmlns:a16="http://schemas.microsoft.com/office/drawing/2014/main" id="{1171473B-1804-91C9-46D6-6547E168BAF8}"/>
                </a:ext>
              </a:extLst>
            </p:cNvPr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3">
              <a:extLst>
                <a:ext uri="{FF2B5EF4-FFF2-40B4-BE49-F238E27FC236}">
                  <a16:creationId xmlns:a16="http://schemas.microsoft.com/office/drawing/2014/main" id="{79C4AF1C-0B8D-1FFA-FE64-43CD17EE54A6}"/>
                </a:ext>
              </a:extLst>
            </p:cNvPr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3">
              <a:extLst>
                <a:ext uri="{FF2B5EF4-FFF2-40B4-BE49-F238E27FC236}">
                  <a16:creationId xmlns:a16="http://schemas.microsoft.com/office/drawing/2014/main" id="{4C4CB626-7FC9-D3A6-1858-CB4C84C07981}"/>
                </a:ext>
              </a:extLst>
            </p:cNvPr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3">
              <a:extLst>
                <a:ext uri="{FF2B5EF4-FFF2-40B4-BE49-F238E27FC236}">
                  <a16:creationId xmlns:a16="http://schemas.microsoft.com/office/drawing/2014/main" id="{70A7F15C-6CBE-24EB-4D55-924CF62C00E5}"/>
                </a:ext>
              </a:extLst>
            </p:cNvPr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3">
              <a:extLst>
                <a:ext uri="{FF2B5EF4-FFF2-40B4-BE49-F238E27FC236}">
                  <a16:creationId xmlns:a16="http://schemas.microsoft.com/office/drawing/2014/main" id="{0CE30EC0-17BF-B493-EED6-EFB4505A18E0}"/>
                </a:ext>
              </a:extLst>
            </p:cNvPr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3">
              <a:extLst>
                <a:ext uri="{FF2B5EF4-FFF2-40B4-BE49-F238E27FC236}">
                  <a16:creationId xmlns:a16="http://schemas.microsoft.com/office/drawing/2014/main" id="{879D304E-11C8-DD74-4D7F-776767B1269E}"/>
                </a:ext>
              </a:extLst>
            </p:cNvPr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3">
              <a:extLst>
                <a:ext uri="{FF2B5EF4-FFF2-40B4-BE49-F238E27FC236}">
                  <a16:creationId xmlns:a16="http://schemas.microsoft.com/office/drawing/2014/main" id="{9138FECD-DEA0-93FE-6639-20F503E14D9A}"/>
                </a:ext>
              </a:extLst>
            </p:cNvPr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3">
              <a:extLst>
                <a:ext uri="{FF2B5EF4-FFF2-40B4-BE49-F238E27FC236}">
                  <a16:creationId xmlns:a16="http://schemas.microsoft.com/office/drawing/2014/main" id="{02F5DDC0-9DF3-BDC1-9EE7-B778D38E265F}"/>
                </a:ext>
              </a:extLst>
            </p:cNvPr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3">
              <a:extLst>
                <a:ext uri="{FF2B5EF4-FFF2-40B4-BE49-F238E27FC236}">
                  <a16:creationId xmlns:a16="http://schemas.microsoft.com/office/drawing/2014/main" id="{F6ED6703-6C0C-E4C0-B39C-9E4116CCF079}"/>
                </a:ext>
              </a:extLst>
            </p:cNvPr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3">
              <a:extLst>
                <a:ext uri="{FF2B5EF4-FFF2-40B4-BE49-F238E27FC236}">
                  <a16:creationId xmlns:a16="http://schemas.microsoft.com/office/drawing/2014/main" id="{AA7D771A-CE00-F00B-C9AC-0F33AC60DDDA}"/>
                </a:ext>
              </a:extLst>
            </p:cNvPr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3">
              <a:extLst>
                <a:ext uri="{FF2B5EF4-FFF2-40B4-BE49-F238E27FC236}">
                  <a16:creationId xmlns:a16="http://schemas.microsoft.com/office/drawing/2014/main" id="{69FC9668-4AAB-281C-B5C5-AE545876D9D8}"/>
                </a:ext>
              </a:extLst>
            </p:cNvPr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3">
              <a:extLst>
                <a:ext uri="{FF2B5EF4-FFF2-40B4-BE49-F238E27FC236}">
                  <a16:creationId xmlns:a16="http://schemas.microsoft.com/office/drawing/2014/main" id="{B1BA2710-CFF8-39C5-D331-51DC09B4FABF}"/>
                </a:ext>
              </a:extLst>
            </p:cNvPr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3">
              <a:extLst>
                <a:ext uri="{FF2B5EF4-FFF2-40B4-BE49-F238E27FC236}">
                  <a16:creationId xmlns:a16="http://schemas.microsoft.com/office/drawing/2014/main" id="{32E0F522-4531-7C55-8EE9-52A289BED446}"/>
                </a:ext>
              </a:extLst>
            </p:cNvPr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3">
              <a:extLst>
                <a:ext uri="{FF2B5EF4-FFF2-40B4-BE49-F238E27FC236}">
                  <a16:creationId xmlns:a16="http://schemas.microsoft.com/office/drawing/2014/main" id="{B456FA2C-516C-6E07-13D4-8457187C1418}"/>
                </a:ext>
              </a:extLst>
            </p:cNvPr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3">
              <a:extLst>
                <a:ext uri="{FF2B5EF4-FFF2-40B4-BE49-F238E27FC236}">
                  <a16:creationId xmlns:a16="http://schemas.microsoft.com/office/drawing/2014/main" id="{2A479932-DFB2-C846-2C59-ADA0DDCA19C3}"/>
                </a:ext>
              </a:extLst>
            </p:cNvPr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3">
              <a:extLst>
                <a:ext uri="{FF2B5EF4-FFF2-40B4-BE49-F238E27FC236}">
                  <a16:creationId xmlns:a16="http://schemas.microsoft.com/office/drawing/2014/main" id="{C9F981E3-D149-CA8C-D468-68485F99BAEB}"/>
                </a:ext>
              </a:extLst>
            </p:cNvPr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3">
              <a:extLst>
                <a:ext uri="{FF2B5EF4-FFF2-40B4-BE49-F238E27FC236}">
                  <a16:creationId xmlns:a16="http://schemas.microsoft.com/office/drawing/2014/main" id="{DA14D072-3E8B-9109-C9A2-0F57B103325E}"/>
                </a:ext>
              </a:extLst>
            </p:cNvPr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3">
              <a:extLst>
                <a:ext uri="{FF2B5EF4-FFF2-40B4-BE49-F238E27FC236}">
                  <a16:creationId xmlns:a16="http://schemas.microsoft.com/office/drawing/2014/main" id="{5B4597FD-7584-FF2D-75B8-802AB6C95B86}"/>
                </a:ext>
              </a:extLst>
            </p:cNvPr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3">
              <a:extLst>
                <a:ext uri="{FF2B5EF4-FFF2-40B4-BE49-F238E27FC236}">
                  <a16:creationId xmlns:a16="http://schemas.microsoft.com/office/drawing/2014/main" id="{DF7EDD93-34FD-2005-C7C2-858C045A3A2C}"/>
                </a:ext>
              </a:extLst>
            </p:cNvPr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3">
              <a:extLst>
                <a:ext uri="{FF2B5EF4-FFF2-40B4-BE49-F238E27FC236}">
                  <a16:creationId xmlns:a16="http://schemas.microsoft.com/office/drawing/2014/main" id="{20FC30A9-EC60-1468-8434-A598EC6BD116}"/>
                </a:ext>
              </a:extLst>
            </p:cNvPr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3">
              <a:extLst>
                <a:ext uri="{FF2B5EF4-FFF2-40B4-BE49-F238E27FC236}">
                  <a16:creationId xmlns:a16="http://schemas.microsoft.com/office/drawing/2014/main" id="{DA564254-C76F-5706-79A9-249B194FBD95}"/>
                </a:ext>
              </a:extLst>
            </p:cNvPr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3">
              <a:extLst>
                <a:ext uri="{FF2B5EF4-FFF2-40B4-BE49-F238E27FC236}">
                  <a16:creationId xmlns:a16="http://schemas.microsoft.com/office/drawing/2014/main" id="{1986FA08-BB30-41C2-A1BF-2D35D3342CC1}"/>
                </a:ext>
              </a:extLst>
            </p:cNvPr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3">
              <a:extLst>
                <a:ext uri="{FF2B5EF4-FFF2-40B4-BE49-F238E27FC236}">
                  <a16:creationId xmlns:a16="http://schemas.microsoft.com/office/drawing/2014/main" id="{8ACF087A-476C-A09B-78CB-0D7400168183}"/>
                </a:ext>
              </a:extLst>
            </p:cNvPr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3">
              <a:extLst>
                <a:ext uri="{FF2B5EF4-FFF2-40B4-BE49-F238E27FC236}">
                  <a16:creationId xmlns:a16="http://schemas.microsoft.com/office/drawing/2014/main" id="{8091B1C3-33D2-67B3-9806-3D2515C7CE4A}"/>
                </a:ext>
              </a:extLst>
            </p:cNvPr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3">
              <a:extLst>
                <a:ext uri="{FF2B5EF4-FFF2-40B4-BE49-F238E27FC236}">
                  <a16:creationId xmlns:a16="http://schemas.microsoft.com/office/drawing/2014/main" id="{E8F0197D-FD8A-4F63-3F1A-A394FC64321B}"/>
                </a:ext>
              </a:extLst>
            </p:cNvPr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3">
              <a:extLst>
                <a:ext uri="{FF2B5EF4-FFF2-40B4-BE49-F238E27FC236}">
                  <a16:creationId xmlns:a16="http://schemas.microsoft.com/office/drawing/2014/main" id="{8AC6382F-4144-EC41-848C-5EC2D4F169C8}"/>
                </a:ext>
              </a:extLst>
            </p:cNvPr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3">
              <a:extLst>
                <a:ext uri="{FF2B5EF4-FFF2-40B4-BE49-F238E27FC236}">
                  <a16:creationId xmlns:a16="http://schemas.microsoft.com/office/drawing/2014/main" id="{423273CB-93C3-BE0E-D4C0-70A8506E51B8}"/>
                </a:ext>
              </a:extLst>
            </p:cNvPr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3">
              <a:extLst>
                <a:ext uri="{FF2B5EF4-FFF2-40B4-BE49-F238E27FC236}">
                  <a16:creationId xmlns:a16="http://schemas.microsoft.com/office/drawing/2014/main" id="{7C0319EC-997B-1E81-B6F4-25A0BBBBD768}"/>
                </a:ext>
              </a:extLst>
            </p:cNvPr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3">
              <a:extLst>
                <a:ext uri="{FF2B5EF4-FFF2-40B4-BE49-F238E27FC236}">
                  <a16:creationId xmlns:a16="http://schemas.microsoft.com/office/drawing/2014/main" id="{7A7A4F0B-31EA-7FE2-F7E5-AD8E0794834E}"/>
                </a:ext>
              </a:extLst>
            </p:cNvPr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3">
              <a:extLst>
                <a:ext uri="{FF2B5EF4-FFF2-40B4-BE49-F238E27FC236}">
                  <a16:creationId xmlns:a16="http://schemas.microsoft.com/office/drawing/2014/main" id="{EE8B18D8-92A6-06B5-5CE7-DC08442DE169}"/>
                </a:ext>
              </a:extLst>
            </p:cNvPr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3">
              <a:extLst>
                <a:ext uri="{FF2B5EF4-FFF2-40B4-BE49-F238E27FC236}">
                  <a16:creationId xmlns:a16="http://schemas.microsoft.com/office/drawing/2014/main" id="{0B00B238-E2BC-FC43-B851-127891A09096}"/>
                </a:ext>
              </a:extLst>
            </p:cNvPr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3">
              <a:extLst>
                <a:ext uri="{FF2B5EF4-FFF2-40B4-BE49-F238E27FC236}">
                  <a16:creationId xmlns:a16="http://schemas.microsoft.com/office/drawing/2014/main" id="{772F0723-3E18-2DF9-AF2F-53BD6E139A8A}"/>
                </a:ext>
              </a:extLst>
            </p:cNvPr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3">
              <a:extLst>
                <a:ext uri="{FF2B5EF4-FFF2-40B4-BE49-F238E27FC236}">
                  <a16:creationId xmlns:a16="http://schemas.microsoft.com/office/drawing/2014/main" id="{4B7EC776-9F42-FE7A-2B08-FC795D300AF2}"/>
                </a:ext>
              </a:extLst>
            </p:cNvPr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1" name="Google Shape;3561;p43">
            <a:extLst>
              <a:ext uri="{FF2B5EF4-FFF2-40B4-BE49-F238E27FC236}">
                <a16:creationId xmlns:a16="http://schemas.microsoft.com/office/drawing/2014/main" id="{469E64CD-55A3-CBF6-D7A2-2E392A9D6A0E}"/>
              </a:ext>
            </a:extLst>
          </p:cNvPr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43">
            <a:extLst>
              <a:ext uri="{FF2B5EF4-FFF2-40B4-BE49-F238E27FC236}">
                <a16:creationId xmlns:a16="http://schemas.microsoft.com/office/drawing/2014/main" id="{E45030D5-DDC1-9CA9-ECAA-97FD32C5BD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2800" dirty="0"/>
              <a:t>Blue </a:t>
            </a:r>
            <a:r>
              <a:rPr lang="hr-HR" sz="2800" dirty="0" err="1"/>
              <a:t>team</a:t>
            </a:r>
            <a:r>
              <a:rPr lang="en-US" sz="2800" dirty="0"/>
              <a:t> </a:t>
            </a:r>
            <a:r>
              <a:rPr lang="en-US" sz="2800" dirty="0" err="1"/>
              <a:t>Inženjer</a:t>
            </a:r>
            <a:endParaRPr sz="2800" dirty="0"/>
          </a:p>
        </p:txBody>
      </p:sp>
      <p:sp>
        <p:nvSpPr>
          <p:cNvPr id="3563" name="Google Shape;3563;p43">
            <a:extLst>
              <a:ext uri="{FF2B5EF4-FFF2-40B4-BE49-F238E27FC236}">
                <a16:creationId xmlns:a16="http://schemas.microsoft.com/office/drawing/2014/main" id="{D685A19E-5EFF-A59E-B0F1-4010E832DDA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2</a:t>
            </a:r>
            <a:endParaRPr dirty="0"/>
          </a:p>
        </p:txBody>
      </p:sp>
      <p:grpSp>
        <p:nvGrpSpPr>
          <p:cNvPr id="3567" name="Google Shape;3567;p43">
            <a:extLst>
              <a:ext uri="{FF2B5EF4-FFF2-40B4-BE49-F238E27FC236}">
                <a16:creationId xmlns:a16="http://schemas.microsoft.com/office/drawing/2014/main" id="{6BD14DAC-5894-E4ED-1532-A14BB5C92B3C}"/>
              </a:ext>
            </a:extLst>
          </p:cNvPr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568" name="Google Shape;3568;p43">
              <a:extLst>
                <a:ext uri="{FF2B5EF4-FFF2-40B4-BE49-F238E27FC236}">
                  <a16:creationId xmlns:a16="http://schemas.microsoft.com/office/drawing/2014/main" id="{3BAC733B-BB84-841F-727F-07B5FD05B27B}"/>
                </a:ext>
              </a:extLst>
            </p:cNvPr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3">
              <a:extLst>
                <a:ext uri="{FF2B5EF4-FFF2-40B4-BE49-F238E27FC236}">
                  <a16:creationId xmlns:a16="http://schemas.microsoft.com/office/drawing/2014/main" id="{8748B65C-42E6-5275-F7A8-AAA5E2669C28}"/>
                </a:ext>
              </a:extLst>
            </p:cNvPr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3">
              <a:extLst>
                <a:ext uri="{FF2B5EF4-FFF2-40B4-BE49-F238E27FC236}">
                  <a16:creationId xmlns:a16="http://schemas.microsoft.com/office/drawing/2014/main" id="{A9A396C4-56DD-A79C-366D-6280EEF5704F}"/>
                </a:ext>
              </a:extLst>
            </p:cNvPr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3">
              <a:extLst>
                <a:ext uri="{FF2B5EF4-FFF2-40B4-BE49-F238E27FC236}">
                  <a16:creationId xmlns:a16="http://schemas.microsoft.com/office/drawing/2014/main" id="{60D44B52-4607-6D8B-AA13-00824ADDA17F}"/>
                </a:ext>
              </a:extLst>
            </p:cNvPr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3">
              <a:extLst>
                <a:ext uri="{FF2B5EF4-FFF2-40B4-BE49-F238E27FC236}">
                  <a16:creationId xmlns:a16="http://schemas.microsoft.com/office/drawing/2014/main" id="{7756F50F-03E5-1D9E-F514-61561ABED124}"/>
                </a:ext>
              </a:extLst>
            </p:cNvPr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3">
              <a:extLst>
                <a:ext uri="{FF2B5EF4-FFF2-40B4-BE49-F238E27FC236}">
                  <a16:creationId xmlns:a16="http://schemas.microsoft.com/office/drawing/2014/main" id="{987ADD5E-16A6-C41F-1502-27123A591ED8}"/>
                </a:ext>
              </a:extLst>
            </p:cNvPr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3">
              <a:extLst>
                <a:ext uri="{FF2B5EF4-FFF2-40B4-BE49-F238E27FC236}">
                  <a16:creationId xmlns:a16="http://schemas.microsoft.com/office/drawing/2014/main" id="{C280265C-0681-8796-59FB-3A46577E81F8}"/>
                </a:ext>
              </a:extLst>
            </p:cNvPr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3">
              <a:extLst>
                <a:ext uri="{FF2B5EF4-FFF2-40B4-BE49-F238E27FC236}">
                  <a16:creationId xmlns:a16="http://schemas.microsoft.com/office/drawing/2014/main" id="{AE0B604B-FC92-AEDD-7E9F-23987023A785}"/>
                </a:ext>
              </a:extLst>
            </p:cNvPr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3">
              <a:extLst>
                <a:ext uri="{FF2B5EF4-FFF2-40B4-BE49-F238E27FC236}">
                  <a16:creationId xmlns:a16="http://schemas.microsoft.com/office/drawing/2014/main" id="{AB57F709-10B3-FA6F-A108-04E14715D1F0}"/>
                </a:ext>
              </a:extLst>
            </p:cNvPr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3">
              <a:extLst>
                <a:ext uri="{FF2B5EF4-FFF2-40B4-BE49-F238E27FC236}">
                  <a16:creationId xmlns:a16="http://schemas.microsoft.com/office/drawing/2014/main" id="{7E80030E-67CF-1FBB-2CB5-83DC55774ED8}"/>
                </a:ext>
              </a:extLst>
            </p:cNvPr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3">
              <a:extLst>
                <a:ext uri="{FF2B5EF4-FFF2-40B4-BE49-F238E27FC236}">
                  <a16:creationId xmlns:a16="http://schemas.microsoft.com/office/drawing/2014/main" id="{712E16F8-E755-94CE-55F8-2DCD4D9F457E}"/>
                </a:ext>
              </a:extLst>
            </p:cNvPr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3">
              <a:extLst>
                <a:ext uri="{FF2B5EF4-FFF2-40B4-BE49-F238E27FC236}">
                  <a16:creationId xmlns:a16="http://schemas.microsoft.com/office/drawing/2014/main" id="{7A28C811-5CDB-645A-16CA-5134C7D7F593}"/>
                </a:ext>
              </a:extLst>
            </p:cNvPr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3">
              <a:extLst>
                <a:ext uri="{FF2B5EF4-FFF2-40B4-BE49-F238E27FC236}">
                  <a16:creationId xmlns:a16="http://schemas.microsoft.com/office/drawing/2014/main" id="{808D509D-088F-4907-D316-EA3E979D4CE3}"/>
                </a:ext>
              </a:extLst>
            </p:cNvPr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3835;p87">
            <a:extLst>
              <a:ext uri="{FF2B5EF4-FFF2-40B4-BE49-F238E27FC236}">
                <a16:creationId xmlns:a16="http://schemas.microsoft.com/office/drawing/2014/main" id="{CE26EEE1-1EB6-B033-5B0B-C3736EA1D54D}"/>
              </a:ext>
            </a:extLst>
          </p:cNvPr>
          <p:cNvGrpSpPr/>
          <p:nvPr/>
        </p:nvGrpSpPr>
        <p:grpSpPr>
          <a:xfrm>
            <a:off x="3794510" y="751550"/>
            <a:ext cx="2055011" cy="1475258"/>
            <a:chOff x="7978465" y="1969392"/>
            <a:chExt cx="361147" cy="360797"/>
          </a:xfrm>
        </p:grpSpPr>
        <p:sp>
          <p:nvSpPr>
            <p:cNvPr id="5" name="Google Shape;13836;p87">
              <a:extLst>
                <a:ext uri="{FF2B5EF4-FFF2-40B4-BE49-F238E27FC236}">
                  <a16:creationId xmlns:a16="http://schemas.microsoft.com/office/drawing/2014/main" id="{1299F8E3-A623-72C8-DA6B-A247451A60AC}"/>
                </a:ext>
              </a:extLst>
            </p:cNvPr>
            <p:cNvSpPr/>
            <p:nvPr/>
          </p:nvSpPr>
          <p:spPr>
            <a:xfrm>
              <a:off x="8136871" y="2285821"/>
              <a:ext cx="44368" cy="44368"/>
            </a:xfrm>
            <a:custGeom>
              <a:avLst/>
              <a:gdLst/>
              <a:ahLst/>
              <a:cxnLst/>
              <a:rect l="l" t="t" r="r" b="b"/>
              <a:pathLst>
                <a:path w="1394" h="1394" extrusionOk="0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7;p87">
              <a:extLst>
                <a:ext uri="{FF2B5EF4-FFF2-40B4-BE49-F238E27FC236}">
                  <a16:creationId xmlns:a16="http://schemas.microsoft.com/office/drawing/2014/main" id="{F4FAA545-708D-8A09-82F3-A11BFDD6720F}"/>
                </a:ext>
              </a:extLst>
            </p:cNvPr>
            <p:cNvSpPr/>
            <p:nvPr/>
          </p:nvSpPr>
          <p:spPr>
            <a:xfrm>
              <a:off x="8210010" y="2121719"/>
              <a:ext cx="56112" cy="5611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8;p87">
              <a:extLst>
                <a:ext uri="{FF2B5EF4-FFF2-40B4-BE49-F238E27FC236}">
                  <a16:creationId xmlns:a16="http://schemas.microsoft.com/office/drawing/2014/main" id="{0CA6CBBB-2A50-B3AF-C7FF-AFB489F807D5}"/>
                </a:ext>
              </a:extLst>
            </p:cNvPr>
            <p:cNvSpPr/>
            <p:nvPr/>
          </p:nvSpPr>
          <p:spPr>
            <a:xfrm>
              <a:off x="8051987" y="2121719"/>
              <a:ext cx="55730" cy="56112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3839;p87">
              <a:extLst>
                <a:ext uri="{FF2B5EF4-FFF2-40B4-BE49-F238E27FC236}">
                  <a16:creationId xmlns:a16="http://schemas.microsoft.com/office/drawing/2014/main" id="{0D73721E-600E-ED31-2629-40BC296F00CA}"/>
                </a:ext>
              </a:extLst>
            </p:cNvPr>
            <p:cNvSpPr/>
            <p:nvPr/>
          </p:nvSpPr>
          <p:spPr>
            <a:xfrm>
              <a:off x="7978465" y="2285821"/>
              <a:ext cx="44749" cy="44368"/>
            </a:xfrm>
            <a:custGeom>
              <a:avLst/>
              <a:gdLst/>
              <a:ahLst/>
              <a:cxnLst/>
              <a:rect l="l" t="t" r="r" b="b"/>
              <a:pathLst>
                <a:path w="1406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40;p87">
              <a:extLst>
                <a:ext uri="{FF2B5EF4-FFF2-40B4-BE49-F238E27FC236}">
                  <a16:creationId xmlns:a16="http://schemas.microsoft.com/office/drawing/2014/main" id="{514567E9-5FD5-75E2-9464-C15CD290648C}"/>
                </a:ext>
              </a:extLst>
            </p:cNvPr>
            <p:cNvSpPr/>
            <p:nvPr/>
          </p:nvSpPr>
          <p:spPr>
            <a:xfrm>
              <a:off x="8294894" y="2285821"/>
              <a:ext cx="44718" cy="44368"/>
            </a:xfrm>
            <a:custGeom>
              <a:avLst/>
              <a:gdLst/>
              <a:ahLst/>
              <a:cxnLst/>
              <a:rect l="l" t="t" r="r" b="b"/>
              <a:pathLst>
                <a:path w="1405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41;p87">
              <a:extLst>
                <a:ext uri="{FF2B5EF4-FFF2-40B4-BE49-F238E27FC236}">
                  <a16:creationId xmlns:a16="http://schemas.microsoft.com/office/drawing/2014/main" id="{6537B250-81C0-FC25-C129-7EF79B918900}"/>
                </a:ext>
              </a:extLst>
            </p:cNvPr>
            <p:cNvSpPr/>
            <p:nvPr/>
          </p:nvSpPr>
          <p:spPr>
            <a:xfrm>
              <a:off x="8119811" y="1969392"/>
              <a:ext cx="78455" cy="78487"/>
            </a:xfrm>
            <a:custGeom>
              <a:avLst/>
              <a:gdLst/>
              <a:ahLst/>
              <a:cxnLst/>
              <a:rect l="l" t="t" r="r" b="b"/>
              <a:pathLst>
                <a:path w="2465" h="2466" extrusionOk="0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42;p87">
              <a:extLst>
                <a:ext uri="{FF2B5EF4-FFF2-40B4-BE49-F238E27FC236}">
                  <a16:creationId xmlns:a16="http://schemas.microsoft.com/office/drawing/2014/main" id="{0642725B-BFA0-7699-FCA3-D65586110F98}"/>
                </a:ext>
              </a:extLst>
            </p:cNvPr>
            <p:cNvSpPr/>
            <p:nvPr/>
          </p:nvSpPr>
          <p:spPr>
            <a:xfrm>
              <a:off x="8012202" y="2189575"/>
              <a:ext cx="134917" cy="89690"/>
            </a:xfrm>
            <a:custGeom>
              <a:avLst/>
              <a:gdLst/>
              <a:ahLst/>
              <a:cxnLst/>
              <a:rect l="l" t="t" r="r" b="b"/>
              <a:pathLst>
                <a:path w="4239" h="2818" extrusionOk="0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43;p87">
              <a:extLst>
                <a:ext uri="{FF2B5EF4-FFF2-40B4-BE49-F238E27FC236}">
                  <a16:creationId xmlns:a16="http://schemas.microsoft.com/office/drawing/2014/main" id="{81168BB4-0375-DD3D-9F48-6029AA990F4A}"/>
                </a:ext>
              </a:extLst>
            </p:cNvPr>
            <p:cNvSpPr/>
            <p:nvPr/>
          </p:nvSpPr>
          <p:spPr>
            <a:xfrm>
              <a:off x="8099346" y="2059973"/>
              <a:ext cx="119385" cy="56016"/>
            </a:xfrm>
            <a:custGeom>
              <a:avLst/>
              <a:gdLst/>
              <a:ahLst/>
              <a:cxnLst/>
              <a:rect l="l" t="t" r="r" b="b"/>
              <a:pathLst>
                <a:path w="3751" h="1760" extrusionOk="0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44;p87">
              <a:extLst>
                <a:ext uri="{FF2B5EF4-FFF2-40B4-BE49-F238E27FC236}">
                  <a16:creationId xmlns:a16="http://schemas.microsoft.com/office/drawing/2014/main" id="{F49F2908-7738-96FE-1ED6-2C3C71E9E8DB}"/>
                </a:ext>
              </a:extLst>
            </p:cNvPr>
            <p:cNvSpPr/>
            <p:nvPr/>
          </p:nvSpPr>
          <p:spPr>
            <a:xfrm>
              <a:off x="8170194" y="2189925"/>
              <a:ext cx="135331" cy="89849"/>
            </a:xfrm>
            <a:custGeom>
              <a:avLst/>
              <a:gdLst/>
              <a:ahLst/>
              <a:cxnLst/>
              <a:rect l="l" t="t" r="r" b="b"/>
              <a:pathLst>
                <a:path w="4252" h="2823" extrusionOk="0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752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F75B7766-33DC-1ADF-77A2-5A36A017C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4CFB2214-C8AA-2BBF-916A-404DA4CC4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l-PL" dirty="0"/>
              <a:t>Sigurnosni Nadzor i Instrumentacija (Blue Team)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2DF957DC-40BC-FA46-84C3-A1020D26E8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971800" cy="2481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sz="1600" b="1" dirty="0"/>
              <a:t>Cilj:</a:t>
            </a:r>
            <a:r>
              <a:rPr lang="hr-HR" sz="1600" dirty="0"/>
              <a:t> Uspostava proaktivnog nadzora nad infrastrukturom.</a:t>
            </a:r>
          </a:p>
          <a:p>
            <a:pPr>
              <a:lnSpc>
                <a:spcPct val="150000"/>
              </a:lnSpc>
            </a:pPr>
            <a:r>
              <a:rPr lang="hr-HR" sz="1600" b="1" dirty="0"/>
              <a:t>Fokus:</a:t>
            </a:r>
            <a:r>
              <a:rPr lang="hr-HR" sz="1600" dirty="0"/>
              <a:t> Praćenje procesa, mrežne aktivnosti i integriteta sustava.</a:t>
            </a:r>
          </a:p>
          <a:p>
            <a:pPr>
              <a:lnSpc>
                <a:spcPct val="150000"/>
              </a:lnSpc>
            </a:pPr>
            <a:r>
              <a:rPr lang="hr-HR" sz="1600" b="1" dirty="0"/>
              <a:t>Pristup:</a:t>
            </a:r>
            <a:r>
              <a:rPr lang="hr-HR" sz="1600" dirty="0"/>
              <a:t> Osiguravanje potpune vidljivosti svih kritičnih točaka u realnom vremenu.</a:t>
            </a:r>
          </a:p>
        </p:txBody>
      </p:sp>
    </p:spTree>
    <p:extLst>
      <p:ext uri="{BB962C8B-B14F-4D97-AF65-F5344CB8AC3E}">
        <p14:creationId xmlns:p14="http://schemas.microsoft.com/office/powerpoint/2010/main" val="138547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5CCEDA4A-18A2-021E-85B5-7E41A0AF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7CFCEC50-EBFE-4277-E5E4-3ABE1115B8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Implementirani Alati i Agenti</a:t>
            </a:r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ABADDC59-337F-E7D2-6465-10215B5C023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971800" cy="2481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b="1" dirty="0" err="1"/>
              <a:t>Wazuh</a:t>
            </a:r>
            <a:r>
              <a:rPr lang="hr-HR" b="1" dirty="0"/>
              <a:t> SIEM (10.10.0.70):</a:t>
            </a:r>
            <a:r>
              <a:rPr lang="hr-HR" dirty="0"/>
              <a:t> Središnji mozak za prikupljanje i analizu logova.</a:t>
            </a:r>
          </a:p>
          <a:p>
            <a:pPr>
              <a:lnSpc>
                <a:spcPct val="150000"/>
              </a:lnSpc>
            </a:pPr>
            <a:r>
              <a:rPr lang="hr-HR" b="1" dirty="0" err="1"/>
              <a:t>Sysmon</a:t>
            </a:r>
            <a:r>
              <a:rPr lang="hr-HR" b="1" dirty="0"/>
              <a:t> (Windows):</a:t>
            </a:r>
            <a:r>
              <a:rPr lang="hr-HR" dirty="0"/>
              <a:t> </a:t>
            </a:r>
            <a:r>
              <a:rPr lang="hr-HR" dirty="0" err="1"/>
              <a:t>Granularno</a:t>
            </a:r>
            <a:r>
              <a:rPr lang="hr-HR" dirty="0"/>
              <a:t> praćenje procesa i mrežnog prometa.</a:t>
            </a:r>
          </a:p>
          <a:p>
            <a:pPr>
              <a:lnSpc>
                <a:spcPct val="150000"/>
              </a:lnSpc>
            </a:pPr>
            <a:r>
              <a:rPr lang="hr-HR" b="1" dirty="0"/>
              <a:t>FIM (Linux):</a:t>
            </a:r>
            <a:r>
              <a:rPr lang="hr-HR" dirty="0"/>
              <a:t> Nadzor integriteta kritičnih datoteka u realnom vremenu.</a:t>
            </a:r>
          </a:p>
          <a:p>
            <a:pPr>
              <a:lnSpc>
                <a:spcPct val="150000"/>
              </a:lnSpc>
            </a:pPr>
            <a:r>
              <a:rPr lang="hr-HR" b="1" dirty="0" err="1"/>
              <a:t>pfSense</a:t>
            </a:r>
            <a:r>
              <a:rPr lang="hr-HR" b="1" dirty="0"/>
              <a:t> </a:t>
            </a:r>
            <a:r>
              <a:rPr lang="hr-HR" b="1" dirty="0" err="1"/>
              <a:t>Integration</a:t>
            </a:r>
            <a:r>
              <a:rPr lang="hr-HR" b="1" dirty="0"/>
              <a:t>:</a:t>
            </a:r>
            <a:r>
              <a:rPr lang="hr-HR" dirty="0"/>
              <a:t> Prosljeđivanje mrežnih logova izravno u SIEM.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0EEFF-15F9-D7D0-55E3-1674BCB73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398" y="1056962"/>
            <a:ext cx="7543800" cy="3267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ECB75C-0E58-D5A9-FC3C-12FB8A5B4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762" y="1829752"/>
            <a:ext cx="2809875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E736E2-2BBD-0470-4B61-98AC7D8C5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26" y="1362075"/>
            <a:ext cx="7496175" cy="2419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650937-BF79-8B93-B83D-E6D61FCC4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35" y="0"/>
            <a:ext cx="76281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053138E3-3092-7365-C33F-22D067867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99B826BC-A0A5-CDB5-0CC7-C5F510AA9F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Mapiranje Prijetnji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72D38CEC-2207-B02F-8683-17E423CD6F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971800" cy="2481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b="1" dirty="0"/>
              <a:t>Windows:</a:t>
            </a:r>
            <a:r>
              <a:rPr lang="hr-HR" dirty="0"/>
              <a:t> Praćenje </a:t>
            </a:r>
            <a:r>
              <a:rPr lang="hr-HR" dirty="0" err="1"/>
              <a:t>PowerShell</a:t>
            </a:r>
            <a:r>
              <a:rPr lang="hr-HR" dirty="0"/>
              <a:t> egzekucija i SMB prometa (</a:t>
            </a:r>
            <a:r>
              <a:rPr lang="hr-HR" dirty="0" err="1"/>
              <a:t>Lateral</a:t>
            </a:r>
            <a:r>
              <a:rPr lang="hr-HR" dirty="0"/>
              <a:t> </a:t>
            </a:r>
            <a:r>
              <a:rPr lang="hr-HR" dirty="0" err="1"/>
              <a:t>Movement</a:t>
            </a:r>
            <a:r>
              <a:rPr lang="hr-HR" dirty="0"/>
              <a:t>).</a:t>
            </a:r>
          </a:p>
          <a:p>
            <a:pPr>
              <a:lnSpc>
                <a:spcPct val="150000"/>
              </a:lnSpc>
            </a:pPr>
            <a:r>
              <a:rPr lang="hr-HR" b="1" dirty="0"/>
              <a:t>Linux:</a:t>
            </a:r>
            <a:r>
              <a:rPr lang="hr-HR" dirty="0"/>
              <a:t> Detekcija promjena u /</a:t>
            </a:r>
            <a:r>
              <a:rPr lang="hr-HR" dirty="0" err="1"/>
              <a:t>etc</a:t>
            </a:r>
            <a:r>
              <a:rPr lang="hr-HR" dirty="0"/>
              <a:t>/</a:t>
            </a:r>
            <a:r>
              <a:rPr lang="hr-HR" dirty="0" err="1"/>
              <a:t>sudoers</a:t>
            </a:r>
            <a:r>
              <a:rPr lang="hr-HR" dirty="0"/>
              <a:t> i /</a:t>
            </a:r>
            <a:r>
              <a:rPr lang="hr-HR" dirty="0" err="1"/>
              <a:t>etc</a:t>
            </a:r>
            <a:r>
              <a:rPr lang="hr-HR" dirty="0"/>
              <a:t>/</a:t>
            </a:r>
            <a:r>
              <a:rPr lang="hr-HR" dirty="0" err="1"/>
              <a:t>shadow</a:t>
            </a:r>
            <a:r>
              <a:rPr lang="hr-HR" dirty="0"/>
              <a:t>.</a:t>
            </a:r>
          </a:p>
          <a:p>
            <a:pPr>
              <a:lnSpc>
                <a:spcPct val="150000"/>
              </a:lnSpc>
            </a:pPr>
            <a:r>
              <a:rPr lang="hr-HR" b="1" dirty="0"/>
              <a:t>Ranjivosti:</a:t>
            </a:r>
            <a:r>
              <a:rPr lang="hr-HR" dirty="0"/>
              <a:t> Namjerno praćenje kritičnih točaka koje je ostavio </a:t>
            </a:r>
            <a:r>
              <a:rPr lang="hr-HR" dirty="0" err="1"/>
              <a:t>Infra</a:t>
            </a:r>
            <a:r>
              <a:rPr lang="hr-HR" dirty="0"/>
              <a:t> tim.</a:t>
            </a:r>
          </a:p>
          <a:p>
            <a:pPr>
              <a:lnSpc>
                <a:spcPct val="150000"/>
              </a:lnSpc>
            </a:pPr>
            <a:r>
              <a:rPr lang="hr-HR" b="1" dirty="0" err="1"/>
              <a:t>Alerting</a:t>
            </a:r>
            <a:r>
              <a:rPr lang="hr-HR" b="1" dirty="0"/>
              <a:t>:</a:t>
            </a:r>
            <a:r>
              <a:rPr lang="hr-HR" dirty="0"/>
              <a:t> Automatska klasifikacija po MITRE tehnikama.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35D04-9B36-049F-EDE8-D26E60F1A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212" y="0"/>
            <a:ext cx="4841575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FB85EE-C099-9633-1BDE-3C87FA35B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912" y="2152650"/>
            <a:ext cx="6734175" cy="83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F850D6-304E-22FA-5E2D-34ECDA6AF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1257300"/>
            <a:ext cx="6400800" cy="2628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295B8E-E2C0-BEFD-1EE8-E63F305269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606348"/>
            <a:ext cx="9144000" cy="363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6BBB6E03-A3A1-F6EE-31BC-47AFC414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A108E1F-8A80-8E87-4EEC-9568F9D8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" y="3605959"/>
            <a:ext cx="4344006" cy="1476581"/>
          </a:xfrm>
          <a:prstGeom prst="rect">
            <a:avLst/>
          </a:prstGeom>
        </p:spPr>
      </p:pic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90D4ACB6-088D-05B1-32AF-5292D03441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l-PL" dirty="0"/>
              <a:t>Detekcija Napada u Realnom Vremenu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CDE05D7B-C619-773A-5C19-8BFA7349D9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971800" cy="2481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b="1" dirty="0"/>
              <a:t>SSH Brute </a:t>
            </a:r>
            <a:r>
              <a:rPr lang="hr-HR" b="1" dirty="0" err="1"/>
              <a:t>Force</a:t>
            </a:r>
            <a:r>
              <a:rPr lang="hr-HR" b="1" dirty="0"/>
              <a:t>:</a:t>
            </a:r>
            <a:r>
              <a:rPr lang="hr-HR" dirty="0"/>
              <a:t> Automatski </a:t>
            </a:r>
            <a:r>
              <a:rPr lang="hr-HR" dirty="0" err="1"/>
              <a:t>Level</a:t>
            </a:r>
            <a:r>
              <a:rPr lang="hr-HR" dirty="0"/>
              <a:t> 10 </a:t>
            </a:r>
            <a:r>
              <a:rPr lang="hr-HR" dirty="0" err="1"/>
              <a:t>alert</a:t>
            </a:r>
            <a:r>
              <a:rPr lang="hr-HR" dirty="0"/>
              <a:t> (više od 5 neuspjelih pokušaja).</a:t>
            </a:r>
          </a:p>
          <a:p>
            <a:pPr>
              <a:lnSpc>
                <a:spcPct val="150000"/>
              </a:lnSpc>
            </a:pPr>
            <a:r>
              <a:rPr lang="hr-HR" b="1" dirty="0" err="1"/>
              <a:t>Control</a:t>
            </a:r>
            <a:r>
              <a:rPr lang="hr-HR" b="1" dirty="0"/>
              <a:t> &amp; </a:t>
            </a:r>
            <a:r>
              <a:rPr lang="hr-HR" b="1" dirty="0" err="1"/>
              <a:t>Command</a:t>
            </a:r>
            <a:r>
              <a:rPr lang="hr-HR" b="1" dirty="0"/>
              <a:t>:</a:t>
            </a:r>
            <a:r>
              <a:rPr lang="hr-HR" dirty="0"/>
              <a:t> Identifikacija </a:t>
            </a:r>
            <a:r>
              <a:rPr lang="hr-HR" dirty="0" err="1"/>
              <a:t>enkodiranih</a:t>
            </a:r>
            <a:r>
              <a:rPr lang="hr-HR" dirty="0"/>
              <a:t> </a:t>
            </a:r>
            <a:r>
              <a:rPr lang="hr-HR" dirty="0" err="1"/>
              <a:t>PowerShell</a:t>
            </a:r>
            <a:r>
              <a:rPr lang="hr-HR" dirty="0"/>
              <a:t> skripti.</a:t>
            </a:r>
          </a:p>
          <a:p>
            <a:pPr>
              <a:lnSpc>
                <a:spcPct val="150000"/>
              </a:lnSpc>
            </a:pPr>
            <a:r>
              <a:rPr lang="hr-HR" b="1" dirty="0" err="1"/>
              <a:t>Privilege</a:t>
            </a:r>
            <a:r>
              <a:rPr lang="hr-HR" b="1" dirty="0"/>
              <a:t> </a:t>
            </a:r>
            <a:r>
              <a:rPr lang="hr-HR" b="1" dirty="0" err="1"/>
              <a:t>Escalation</a:t>
            </a:r>
            <a:r>
              <a:rPr lang="hr-HR" b="1" dirty="0"/>
              <a:t>:</a:t>
            </a:r>
            <a:r>
              <a:rPr lang="hr-HR" dirty="0"/>
              <a:t> Trenutna obavijest o manipulaciji administratorskim ovlastima.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039D0-7F62-3BD2-306F-4AF422B03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543050"/>
            <a:ext cx="7524750" cy="205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14720C-34CD-ED54-CA30-3A1253CD1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665" y="0"/>
            <a:ext cx="62496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28BDD8-664A-0D4C-45AB-648D1A2590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6347"/>
            <a:ext cx="9144000" cy="363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E4C73B78-25A3-8790-C78F-3B765A760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6C576FC2-26C5-1C95-ABEE-DBD5E7481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Otklanjanje Ranjivosti i Ojačavanje Sustava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EB10A772-FD83-D514-D88B-10D6BF5E03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971800" cy="2481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b="1" dirty="0"/>
              <a:t>SSH </a:t>
            </a:r>
            <a:r>
              <a:rPr lang="hr-HR" b="1" dirty="0" err="1"/>
              <a:t>Hardening</a:t>
            </a:r>
            <a:r>
              <a:rPr lang="hr-HR" b="1" dirty="0"/>
              <a:t>:</a:t>
            </a:r>
            <a:r>
              <a:rPr lang="hr-HR" dirty="0"/>
              <a:t> Ograničen broj pokušaja (</a:t>
            </a:r>
            <a:r>
              <a:rPr lang="hr-HR" dirty="0" err="1"/>
              <a:t>MaxAuthTries</a:t>
            </a:r>
            <a:r>
              <a:rPr lang="hr-HR" dirty="0"/>
              <a:t> 3) i onemogućen </a:t>
            </a:r>
            <a:r>
              <a:rPr lang="hr-HR" dirty="0" err="1"/>
              <a:t>root</a:t>
            </a:r>
            <a:r>
              <a:rPr lang="hr-HR" dirty="0"/>
              <a:t> login.</a:t>
            </a:r>
          </a:p>
          <a:p>
            <a:pPr>
              <a:lnSpc>
                <a:spcPct val="150000"/>
              </a:lnSpc>
            </a:pPr>
            <a:r>
              <a:rPr lang="hr-HR" b="1" dirty="0" err="1"/>
              <a:t>Privilege</a:t>
            </a:r>
            <a:r>
              <a:rPr lang="hr-HR" b="1" dirty="0"/>
              <a:t> </a:t>
            </a:r>
            <a:r>
              <a:rPr lang="hr-HR" b="1" dirty="0" err="1"/>
              <a:t>Control</a:t>
            </a:r>
            <a:r>
              <a:rPr lang="hr-HR" b="1" dirty="0"/>
              <a:t>:</a:t>
            </a:r>
            <a:r>
              <a:rPr lang="hr-HR" dirty="0"/>
              <a:t> Uklonjen NOPASSWD pristup; </a:t>
            </a:r>
            <a:r>
              <a:rPr lang="hr-HR" dirty="0" err="1"/>
              <a:t>sudoers</a:t>
            </a:r>
            <a:r>
              <a:rPr lang="hr-HR" dirty="0"/>
              <a:t> datoteka osigurana.</a:t>
            </a:r>
          </a:p>
          <a:p>
            <a:pPr>
              <a:lnSpc>
                <a:spcPct val="150000"/>
              </a:lnSpc>
            </a:pPr>
            <a:r>
              <a:rPr lang="hr-HR" b="1" dirty="0"/>
              <a:t>Network </a:t>
            </a:r>
            <a:r>
              <a:rPr lang="hr-HR" b="1" dirty="0" err="1"/>
              <a:t>Filtering</a:t>
            </a:r>
            <a:r>
              <a:rPr lang="hr-HR" b="1" dirty="0"/>
              <a:t>:</a:t>
            </a:r>
            <a:r>
              <a:rPr lang="hr-HR" dirty="0"/>
              <a:t> </a:t>
            </a:r>
            <a:r>
              <a:rPr lang="hr-HR" dirty="0" err="1"/>
              <a:t>pfSense</a:t>
            </a:r>
            <a:r>
              <a:rPr lang="hr-HR" dirty="0"/>
              <a:t> pravila blokiraju poznate C2 adrese.</a:t>
            </a:r>
          </a:p>
          <a:p>
            <a:pPr>
              <a:lnSpc>
                <a:spcPct val="150000"/>
              </a:lnSpc>
            </a:pPr>
            <a:r>
              <a:rPr lang="hr-HR" b="1" dirty="0"/>
              <a:t>Micro-</a:t>
            </a:r>
            <a:r>
              <a:rPr lang="hr-HR" b="1" dirty="0" err="1"/>
              <a:t>segmentation</a:t>
            </a:r>
            <a:r>
              <a:rPr lang="hr-HR" b="1" dirty="0"/>
              <a:t>:</a:t>
            </a:r>
            <a:r>
              <a:rPr lang="hr-HR" dirty="0"/>
              <a:t> Aktiviran Windows </a:t>
            </a:r>
            <a:r>
              <a:rPr lang="hr-HR" dirty="0" err="1"/>
              <a:t>Firewall</a:t>
            </a:r>
            <a:r>
              <a:rPr lang="hr-HR" dirty="0"/>
              <a:t> s restriktivnim SMB pravilima.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3CB4D5-DC0D-4BC1-101E-E6CF195C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637" y="99307"/>
            <a:ext cx="5364567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292E4F-C69F-61D3-74F4-58FE00210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6655" y="2424571"/>
            <a:ext cx="5381625" cy="7715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1D34CD-D68D-61A3-9837-E01541AC1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655" y="-1"/>
            <a:ext cx="6592529" cy="5143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7D404E-6B6F-B5DF-7554-1E104448E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655" y="1307444"/>
            <a:ext cx="6534150" cy="1704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DD19A5-2FFB-2586-E7CA-CC2F12F055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520161"/>
            <a:ext cx="9144000" cy="48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>
          <a:extLst>
            <a:ext uri="{FF2B5EF4-FFF2-40B4-BE49-F238E27FC236}">
              <a16:creationId xmlns:a16="http://schemas.microsoft.com/office/drawing/2014/main" id="{0DEFF4D5-D3CD-22A8-A1A2-9958B5B0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4" name="Google Shape;3524;p43">
            <a:extLst>
              <a:ext uri="{FF2B5EF4-FFF2-40B4-BE49-F238E27FC236}">
                <a16:creationId xmlns:a16="http://schemas.microsoft.com/office/drawing/2014/main" id="{E1432F4C-B192-2766-9A56-EDB380CF29EE}"/>
              </a:ext>
            </a:extLst>
          </p:cNvPr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525" name="Google Shape;3525;p43">
              <a:extLst>
                <a:ext uri="{FF2B5EF4-FFF2-40B4-BE49-F238E27FC236}">
                  <a16:creationId xmlns:a16="http://schemas.microsoft.com/office/drawing/2014/main" id="{E359D5DD-4528-DB4C-00E6-AFB1156CEE2E}"/>
                </a:ext>
              </a:extLst>
            </p:cNvPr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3">
              <a:extLst>
                <a:ext uri="{FF2B5EF4-FFF2-40B4-BE49-F238E27FC236}">
                  <a16:creationId xmlns:a16="http://schemas.microsoft.com/office/drawing/2014/main" id="{91588510-27CD-3B7A-EE2C-764402C18AC5}"/>
                </a:ext>
              </a:extLst>
            </p:cNvPr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3">
              <a:extLst>
                <a:ext uri="{FF2B5EF4-FFF2-40B4-BE49-F238E27FC236}">
                  <a16:creationId xmlns:a16="http://schemas.microsoft.com/office/drawing/2014/main" id="{5D8DBC6C-680E-60BB-C14F-C5464FC04621}"/>
                </a:ext>
              </a:extLst>
            </p:cNvPr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3">
              <a:extLst>
                <a:ext uri="{FF2B5EF4-FFF2-40B4-BE49-F238E27FC236}">
                  <a16:creationId xmlns:a16="http://schemas.microsoft.com/office/drawing/2014/main" id="{006B6E64-67D8-748C-42B6-159C17351C40}"/>
                </a:ext>
              </a:extLst>
            </p:cNvPr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3">
              <a:extLst>
                <a:ext uri="{FF2B5EF4-FFF2-40B4-BE49-F238E27FC236}">
                  <a16:creationId xmlns:a16="http://schemas.microsoft.com/office/drawing/2014/main" id="{E87DCB75-5FA3-ACF8-B34A-92A397C2EFF8}"/>
                </a:ext>
              </a:extLst>
            </p:cNvPr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3">
              <a:extLst>
                <a:ext uri="{FF2B5EF4-FFF2-40B4-BE49-F238E27FC236}">
                  <a16:creationId xmlns:a16="http://schemas.microsoft.com/office/drawing/2014/main" id="{2DBC75D8-58F6-3668-EE77-E3EFF3D38D3B}"/>
                </a:ext>
              </a:extLst>
            </p:cNvPr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3">
              <a:extLst>
                <a:ext uri="{FF2B5EF4-FFF2-40B4-BE49-F238E27FC236}">
                  <a16:creationId xmlns:a16="http://schemas.microsoft.com/office/drawing/2014/main" id="{4AA3D9E4-DC84-B42F-A544-B3402D6B4A24}"/>
                </a:ext>
              </a:extLst>
            </p:cNvPr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3">
              <a:extLst>
                <a:ext uri="{FF2B5EF4-FFF2-40B4-BE49-F238E27FC236}">
                  <a16:creationId xmlns:a16="http://schemas.microsoft.com/office/drawing/2014/main" id="{6B146D30-3C1A-62D2-1627-8F335C6C77AE}"/>
                </a:ext>
              </a:extLst>
            </p:cNvPr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3">
              <a:extLst>
                <a:ext uri="{FF2B5EF4-FFF2-40B4-BE49-F238E27FC236}">
                  <a16:creationId xmlns:a16="http://schemas.microsoft.com/office/drawing/2014/main" id="{5A99A2CA-CA0F-AC1A-ED14-CBF5CD16DD8C}"/>
                </a:ext>
              </a:extLst>
            </p:cNvPr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3">
              <a:extLst>
                <a:ext uri="{FF2B5EF4-FFF2-40B4-BE49-F238E27FC236}">
                  <a16:creationId xmlns:a16="http://schemas.microsoft.com/office/drawing/2014/main" id="{A8C5F1C3-600C-A603-ECF1-FF118C3D97E1}"/>
                </a:ext>
              </a:extLst>
            </p:cNvPr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3">
              <a:extLst>
                <a:ext uri="{FF2B5EF4-FFF2-40B4-BE49-F238E27FC236}">
                  <a16:creationId xmlns:a16="http://schemas.microsoft.com/office/drawing/2014/main" id="{5E8F6FDD-F445-58DA-FDD5-04FA90DA6521}"/>
                </a:ext>
              </a:extLst>
            </p:cNvPr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3">
              <a:extLst>
                <a:ext uri="{FF2B5EF4-FFF2-40B4-BE49-F238E27FC236}">
                  <a16:creationId xmlns:a16="http://schemas.microsoft.com/office/drawing/2014/main" id="{1CBCEB32-93CE-A4AD-3C10-4771325706F9}"/>
                </a:ext>
              </a:extLst>
            </p:cNvPr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3">
              <a:extLst>
                <a:ext uri="{FF2B5EF4-FFF2-40B4-BE49-F238E27FC236}">
                  <a16:creationId xmlns:a16="http://schemas.microsoft.com/office/drawing/2014/main" id="{FBCD9DC0-3849-D2AF-20AC-3E3CA94E2C36}"/>
                </a:ext>
              </a:extLst>
            </p:cNvPr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3">
              <a:extLst>
                <a:ext uri="{FF2B5EF4-FFF2-40B4-BE49-F238E27FC236}">
                  <a16:creationId xmlns:a16="http://schemas.microsoft.com/office/drawing/2014/main" id="{F5E717FC-7624-0883-A10D-976B63BD418A}"/>
                </a:ext>
              </a:extLst>
            </p:cNvPr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3">
              <a:extLst>
                <a:ext uri="{FF2B5EF4-FFF2-40B4-BE49-F238E27FC236}">
                  <a16:creationId xmlns:a16="http://schemas.microsoft.com/office/drawing/2014/main" id="{48897E60-8F20-9AF0-7A52-896E8366790A}"/>
                </a:ext>
              </a:extLst>
            </p:cNvPr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3">
              <a:extLst>
                <a:ext uri="{FF2B5EF4-FFF2-40B4-BE49-F238E27FC236}">
                  <a16:creationId xmlns:a16="http://schemas.microsoft.com/office/drawing/2014/main" id="{87F45BFE-676E-BE17-EBCA-134E6E7BCB17}"/>
                </a:ext>
              </a:extLst>
            </p:cNvPr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3">
              <a:extLst>
                <a:ext uri="{FF2B5EF4-FFF2-40B4-BE49-F238E27FC236}">
                  <a16:creationId xmlns:a16="http://schemas.microsoft.com/office/drawing/2014/main" id="{F6A8EE2D-2E28-10B1-B1E2-575C55CB8D00}"/>
                </a:ext>
              </a:extLst>
            </p:cNvPr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3">
              <a:extLst>
                <a:ext uri="{FF2B5EF4-FFF2-40B4-BE49-F238E27FC236}">
                  <a16:creationId xmlns:a16="http://schemas.microsoft.com/office/drawing/2014/main" id="{3744D988-6A3D-05D4-88F7-F6412CA9A1C4}"/>
                </a:ext>
              </a:extLst>
            </p:cNvPr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3">
              <a:extLst>
                <a:ext uri="{FF2B5EF4-FFF2-40B4-BE49-F238E27FC236}">
                  <a16:creationId xmlns:a16="http://schemas.microsoft.com/office/drawing/2014/main" id="{E64331A5-81CC-85FF-F48E-C567CF4B5652}"/>
                </a:ext>
              </a:extLst>
            </p:cNvPr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3">
              <a:extLst>
                <a:ext uri="{FF2B5EF4-FFF2-40B4-BE49-F238E27FC236}">
                  <a16:creationId xmlns:a16="http://schemas.microsoft.com/office/drawing/2014/main" id="{3A73C659-E67E-91CB-EAC1-081954F60912}"/>
                </a:ext>
              </a:extLst>
            </p:cNvPr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3">
              <a:extLst>
                <a:ext uri="{FF2B5EF4-FFF2-40B4-BE49-F238E27FC236}">
                  <a16:creationId xmlns:a16="http://schemas.microsoft.com/office/drawing/2014/main" id="{B04ED7E7-E12B-66F3-09A4-DF350A2F171F}"/>
                </a:ext>
              </a:extLst>
            </p:cNvPr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3">
              <a:extLst>
                <a:ext uri="{FF2B5EF4-FFF2-40B4-BE49-F238E27FC236}">
                  <a16:creationId xmlns:a16="http://schemas.microsoft.com/office/drawing/2014/main" id="{AA13652B-3166-BEC1-5CD2-9E221B87545F}"/>
                </a:ext>
              </a:extLst>
            </p:cNvPr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3">
              <a:extLst>
                <a:ext uri="{FF2B5EF4-FFF2-40B4-BE49-F238E27FC236}">
                  <a16:creationId xmlns:a16="http://schemas.microsoft.com/office/drawing/2014/main" id="{F0C4E9CC-54EA-86AB-B552-9F68DD47E8D8}"/>
                </a:ext>
              </a:extLst>
            </p:cNvPr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3">
              <a:extLst>
                <a:ext uri="{FF2B5EF4-FFF2-40B4-BE49-F238E27FC236}">
                  <a16:creationId xmlns:a16="http://schemas.microsoft.com/office/drawing/2014/main" id="{3F4D8B42-D9CB-179D-C962-AD497CF82006}"/>
                </a:ext>
              </a:extLst>
            </p:cNvPr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3">
              <a:extLst>
                <a:ext uri="{FF2B5EF4-FFF2-40B4-BE49-F238E27FC236}">
                  <a16:creationId xmlns:a16="http://schemas.microsoft.com/office/drawing/2014/main" id="{8073387B-225B-FE8C-50E2-98B92394B9C3}"/>
                </a:ext>
              </a:extLst>
            </p:cNvPr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3">
              <a:extLst>
                <a:ext uri="{FF2B5EF4-FFF2-40B4-BE49-F238E27FC236}">
                  <a16:creationId xmlns:a16="http://schemas.microsoft.com/office/drawing/2014/main" id="{A42FEC95-EDE7-F190-1A56-66310D9C4B45}"/>
                </a:ext>
              </a:extLst>
            </p:cNvPr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3">
              <a:extLst>
                <a:ext uri="{FF2B5EF4-FFF2-40B4-BE49-F238E27FC236}">
                  <a16:creationId xmlns:a16="http://schemas.microsoft.com/office/drawing/2014/main" id="{67DC2BFE-1109-951C-885C-BFBDE0FCF7D1}"/>
                </a:ext>
              </a:extLst>
            </p:cNvPr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3">
              <a:extLst>
                <a:ext uri="{FF2B5EF4-FFF2-40B4-BE49-F238E27FC236}">
                  <a16:creationId xmlns:a16="http://schemas.microsoft.com/office/drawing/2014/main" id="{9FD3B42A-0766-5669-0C8D-C07B55CDD9EF}"/>
                </a:ext>
              </a:extLst>
            </p:cNvPr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3">
              <a:extLst>
                <a:ext uri="{FF2B5EF4-FFF2-40B4-BE49-F238E27FC236}">
                  <a16:creationId xmlns:a16="http://schemas.microsoft.com/office/drawing/2014/main" id="{1D61E394-2B82-0A4E-0ED7-B8BAE4244AFF}"/>
                </a:ext>
              </a:extLst>
            </p:cNvPr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3">
              <a:extLst>
                <a:ext uri="{FF2B5EF4-FFF2-40B4-BE49-F238E27FC236}">
                  <a16:creationId xmlns:a16="http://schemas.microsoft.com/office/drawing/2014/main" id="{50A24438-A5BB-9622-CB2C-709434EFFE21}"/>
                </a:ext>
              </a:extLst>
            </p:cNvPr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3">
              <a:extLst>
                <a:ext uri="{FF2B5EF4-FFF2-40B4-BE49-F238E27FC236}">
                  <a16:creationId xmlns:a16="http://schemas.microsoft.com/office/drawing/2014/main" id="{74DA74AD-47F5-9C12-E0F6-15E2AC3A8F2B}"/>
                </a:ext>
              </a:extLst>
            </p:cNvPr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3">
              <a:extLst>
                <a:ext uri="{FF2B5EF4-FFF2-40B4-BE49-F238E27FC236}">
                  <a16:creationId xmlns:a16="http://schemas.microsoft.com/office/drawing/2014/main" id="{6026559D-3167-1EB6-F49E-B165343E0E01}"/>
                </a:ext>
              </a:extLst>
            </p:cNvPr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3">
              <a:extLst>
                <a:ext uri="{FF2B5EF4-FFF2-40B4-BE49-F238E27FC236}">
                  <a16:creationId xmlns:a16="http://schemas.microsoft.com/office/drawing/2014/main" id="{F93142FF-4BC7-9953-3645-D3FE09974582}"/>
                </a:ext>
              </a:extLst>
            </p:cNvPr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3">
              <a:extLst>
                <a:ext uri="{FF2B5EF4-FFF2-40B4-BE49-F238E27FC236}">
                  <a16:creationId xmlns:a16="http://schemas.microsoft.com/office/drawing/2014/main" id="{8FFF8ABD-5923-75EF-7445-D55283B24BEE}"/>
                </a:ext>
              </a:extLst>
            </p:cNvPr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3">
              <a:extLst>
                <a:ext uri="{FF2B5EF4-FFF2-40B4-BE49-F238E27FC236}">
                  <a16:creationId xmlns:a16="http://schemas.microsoft.com/office/drawing/2014/main" id="{261A110E-410C-A01C-54B0-BF1FE8DE3E66}"/>
                </a:ext>
              </a:extLst>
            </p:cNvPr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3">
              <a:extLst>
                <a:ext uri="{FF2B5EF4-FFF2-40B4-BE49-F238E27FC236}">
                  <a16:creationId xmlns:a16="http://schemas.microsoft.com/office/drawing/2014/main" id="{19447014-1100-D1BE-CDF3-0CA7267B8DDC}"/>
                </a:ext>
              </a:extLst>
            </p:cNvPr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1" name="Google Shape;3561;p43">
            <a:extLst>
              <a:ext uri="{FF2B5EF4-FFF2-40B4-BE49-F238E27FC236}">
                <a16:creationId xmlns:a16="http://schemas.microsoft.com/office/drawing/2014/main" id="{E69443E6-9E61-CF36-EE29-DBB1A91AC39F}"/>
              </a:ext>
            </a:extLst>
          </p:cNvPr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43">
            <a:extLst>
              <a:ext uri="{FF2B5EF4-FFF2-40B4-BE49-F238E27FC236}">
                <a16:creationId xmlns:a16="http://schemas.microsoft.com/office/drawing/2014/main" id="{C57AC301-0647-2227-4081-893A798FC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2800" dirty="0"/>
              <a:t>Red Team </a:t>
            </a:r>
            <a:r>
              <a:rPr lang="en-US" sz="2800" dirty="0" err="1"/>
              <a:t>Inženjer</a:t>
            </a:r>
            <a:endParaRPr sz="2800" dirty="0"/>
          </a:p>
        </p:txBody>
      </p:sp>
      <p:sp>
        <p:nvSpPr>
          <p:cNvPr id="3563" name="Google Shape;3563;p43">
            <a:extLst>
              <a:ext uri="{FF2B5EF4-FFF2-40B4-BE49-F238E27FC236}">
                <a16:creationId xmlns:a16="http://schemas.microsoft.com/office/drawing/2014/main" id="{87832A66-E1DE-CAA3-1B71-9E62886D1F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3</a:t>
            </a:r>
            <a:endParaRPr dirty="0"/>
          </a:p>
        </p:txBody>
      </p:sp>
      <p:grpSp>
        <p:nvGrpSpPr>
          <p:cNvPr id="3567" name="Google Shape;3567;p43">
            <a:extLst>
              <a:ext uri="{FF2B5EF4-FFF2-40B4-BE49-F238E27FC236}">
                <a16:creationId xmlns:a16="http://schemas.microsoft.com/office/drawing/2014/main" id="{41805395-D7F2-2608-2472-3301143D868B}"/>
              </a:ext>
            </a:extLst>
          </p:cNvPr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568" name="Google Shape;3568;p43">
              <a:extLst>
                <a:ext uri="{FF2B5EF4-FFF2-40B4-BE49-F238E27FC236}">
                  <a16:creationId xmlns:a16="http://schemas.microsoft.com/office/drawing/2014/main" id="{E6C892A1-552C-196D-BC27-F38BCA7C6B42}"/>
                </a:ext>
              </a:extLst>
            </p:cNvPr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3">
              <a:extLst>
                <a:ext uri="{FF2B5EF4-FFF2-40B4-BE49-F238E27FC236}">
                  <a16:creationId xmlns:a16="http://schemas.microsoft.com/office/drawing/2014/main" id="{22B615F1-81AD-CFEE-E5AA-3378242365BB}"/>
                </a:ext>
              </a:extLst>
            </p:cNvPr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3">
              <a:extLst>
                <a:ext uri="{FF2B5EF4-FFF2-40B4-BE49-F238E27FC236}">
                  <a16:creationId xmlns:a16="http://schemas.microsoft.com/office/drawing/2014/main" id="{82AA7F78-A400-C5F7-AF19-0451A6724370}"/>
                </a:ext>
              </a:extLst>
            </p:cNvPr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3">
              <a:extLst>
                <a:ext uri="{FF2B5EF4-FFF2-40B4-BE49-F238E27FC236}">
                  <a16:creationId xmlns:a16="http://schemas.microsoft.com/office/drawing/2014/main" id="{F5B5072D-3D9A-D87B-3E6F-E8CEE7ED30EC}"/>
                </a:ext>
              </a:extLst>
            </p:cNvPr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3">
              <a:extLst>
                <a:ext uri="{FF2B5EF4-FFF2-40B4-BE49-F238E27FC236}">
                  <a16:creationId xmlns:a16="http://schemas.microsoft.com/office/drawing/2014/main" id="{EECF13C5-DBC4-D15A-2494-98EC7BA39630}"/>
                </a:ext>
              </a:extLst>
            </p:cNvPr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3">
              <a:extLst>
                <a:ext uri="{FF2B5EF4-FFF2-40B4-BE49-F238E27FC236}">
                  <a16:creationId xmlns:a16="http://schemas.microsoft.com/office/drawing/2014/main" id="{4597C760-ACD3-EE62-3D78-3430508C8314}"/>
                </a:ext>
              </a:extLst>
            </p:cNvPr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3">
              <a:extLst>
                <a:ext uri="{FF2B5EF4-FFF2-40B4-BE49-F238E27FC236}">
                  <a16:creationId xmlns:a16="http://schemas.microsoft.com/office/drawing/2014/main" id="{6E793E70-1159-7AAF-C51B-0F43B4D46F78}"/>
                </a:ext>
              </a:extLst>
            </p:cNvPr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3">
              <a:extLst>
                <a:ext uri="{FF2B5EF4-FFF2-40B4-BE49-F238E27FC236}">
                  <a16:creationId xmlns:a16="http://schemas.microsoft.com/office/drawing/2014/main" id="{69A4ED98-4F61-B212-B929-2F8FC5125E3C}"/>
                </a:ext>
              </a:extLst>
            </p:cNvPr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3">
              <a:extLst>
                <a:ext uri="{FF2B5EF4-FFF2-40B4-BE49-F238E27FC236}">
                  <a16:creationId xmlns:a16="http://schemas.microsoft.com/office/drawing/2014/main" id="{EABAD11F-FF94-954D-1B77-44CCC5295993}"/>
                </a:ext>
              </a:extLst>
            </p:cNvPr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3">
              <a:extLst>
                <a:ext uri="{FF2B5EF4-FFF2-40B4-BE49-F238E27FC236}">
                  <a16:creationId xmlns:a16="http://schemas.microsoft.com/office/drawing/2014/main" id="{9237E6CA-33DE-8E89-FA60-CE5769ADEB20}"/>
                </a:ext>
              </a:extLst>
            </p:cNvPr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3">
              <a:extLst>
                <a:ext uri="{FF2B5EF4-FFF2-40B4-BE49-F238E27FC236}">
                  <a16:creationId xmlns:a16="http://schemas.microsoft.com/office/drawing/2014/main" id="{B258F2F5-AEAB-5023-55DC-8CDD604D258E}"/>
                </a:ext>
              </a:extLst>
            </p:cNvPr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3">
              <a:extLst>
                <a:ext uri="{FF2B5EF4-FFF2-40B4-BE49-F238E27FC236}">
                  <a16:creationId xmlns:a16="http://schemas.microsoft.com/office/drawing/2014/main" id="{0EF5C443-7B3E-2B5F-2E33-BC2979F834D2}"/>
                </a:ext>
              </a:extLst>
            </p:cNvPr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3">
              <a:extLst>
                <a:ext uri="{FF2B5EF4-FFF2-40B4-BE49-F238E27FC236}">
                  <a16:creationId xmlns:a16="http://schemas.microsoft.com/office/drawing/2014/main" id="{8499404A-EE7C-7E14-BB09-18DD7247EB7A}"/>
                </a:ext>
              </a:extLst>
            </p:cNvPr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3835;p87">
            <a:extLst>
              <a:ext uri="{FF2B5EF4-FFF2-40B4-BE49-F238E27FC236}">
                <a16:creationId xmlns:a16="http://schemas.microsoft.com/office/drawing/2014/main" id="{1AB0549C-417F-2388-860A-0DE1E39B5A69}"/>
              </a:ext>
            </a:extLst>
          </p:cNvPr>
          <p:cNvGrpSpPr/>
          <p:nvPr/>
        </p:nvGrpSpPr>
        <p:grpSpPr>
          <a:xfrm>
            <a:off x="3794510" y="751550"/>
            <a:ext cx="2055011" cy="1475258"/>
            <a:chOff x="7978465" y="1969392"/>
            <a:chExt cx="361147" cy="360797"/>
          </a:xfrm>
        </p:grpSpPr>
        <p:sp>
          <p:nvSpPr>
            <p:cNvPr id="5" name="Google Shape;13836;p87">
              <a:extLst>
                <a:ext uri="{FF2B5EF4-FFF2-40B4-BE49-F238E27FC236}">
                  <a16:creationId xmlns:a16="http://schemas.microsoft.com/office/drawing/2014/main" id="{24BCE8AE-EEEB-BBD7-96F2-27E38B4ED212}"/>
                </a:ext>
              </a:extLst>
            </p:cNvPr>
            <p:cNvSpPr/>
            <p:nvPr/>
          </p:nvSpPr>
          <p:spPr>
            <a:xfrm>
              <a:off x="8136871" y="2285821"/>
              <a:ext cx="44368" cy="44368"/>
            </a:xfrm>
            <a:custGeom>
              <a:avLst/>
              <a:gdLst/>
              <a:ahLst/>
              <a:cxnLst/>
              <a:rect l="l" t="t" r="r" b="b"/>
              <a:pathLst>
                <a:path w="1394" h="1394" extrusionOk="0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7;p87">
              <a:extLst>
                <a:ext uri="{FF2B5EF4-FFF2-40B4-BE49-F238E27FC236}">
                  <a16:creationId xmlns:a16="http://schemas.microsoft.com/office/drawing/2014/main" id="{54D3BACC-2091-B0FA-7B8D-1D3C9E652BD3}"/>
                </a:ext>
              </a:extLst>
            </p:cNvPr>
            <p:cNvSpPr/>
            <p:nvPr/>
          </p:nvSpPr>
          <p:spPr>
            <a:xfrm>
              <a:off x="8210010" y="2121719"/>
              <a:ext cx="56112" cy="5611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8;p87">
              <a:extLst>
                <a:ext uri="{FF2B5EF4-FFF2-40B4-BE49-F238E27FC236}">
                  <a16:creationId xmlns:a16="http://schemas.microsoft.com/office/drawing/2014/main" id="{222CC609-A46B-B148-7C6A-7F09B0252C7B}"/>
                </a:ext>
              </a:extLst>
            </p:cNvPr>
            <p:cNvSpPr/>
            <p:nvPr/>
          </p:nvSpPr>
          <p:spPr>
            <a:xfrm>
              <a:off x="8051987" y="2121719"/>
              <a:ext cx="55730" cy="56112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9;p87">
              <a:extLst>
                <a:ext uri="{FF2B5EF4-FFF2-40B4-BE49-F238E27FC236}">
                  <a16:creationId xmlns:a16="http://schemas.microsoft.com/office/drawing/2014/main" id="{0D0AC7C2-7091-89DE-B822-3DB6B781E4EF}"/>
                </a:ext>
              </a:extLst>
            </p:cNvPr>
            <p:cNvSpPr/>
            <p:nvPr/>
          </p:nvSpPr>
          <p:spPr>
            <a:xfrm>
              <a:off x="7978465" y="2285821"/>
              <a:ext cx="44749" cy="44368"/>
            </a:xfrm>
            <a:custGeom>
              <a:avLst/>
              <a:gdLst/>
              <a:ahLst/>
              <a:cxnLst/>
              <a:rect l="l" t="t" r="r" b="b"/>
              <a:pathLst>
                <a:path w="1406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40;p87">
              <a:extLst>
                <a:ext uri="{FF2B5EF4-FFF2-40B4-BE49-F238E27FC236}">
                  <a16:creationId xmlns:a16="http://schemas.microsoft.com/office/drawing/2014/main" id="{F1AFE3FA-60E7-D26D-35BE-B23C47EE4BC8}"/>
                </a:ext>
              </a:extLst>
            </p:cNvPr>
            <p:cNvSpPr/>
            <p:nvPr/>
          </p:nvSpPr>
          <p:spPr>
            <a:xfrm>
              <a:off x="8294894" y="2285821"/>
              <a:ext cx="44718" cy="44368"/>
            </a:xfrm>
            <a:custGeom>
              <a:avLst/>
              <a:gdLst/>
              <a:ahLst/>
              <a:cxnLst/>
              <a:rect l="l" t="t" r="r" b="b"/>
              <a:pathLst>
                <a:path w="1405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41;p87">
              <a:extLst>
                <a:ext uri="{FF2B5EF4-FFF2-40B4-BE49-F238E27FC236}">
                  <a16:creationId xmlns:a16="http://schemas.microsoft.com/office/drawing/2014/main" id="{AFF936DE-9C5F-49B0-8FC0-52A7500899E1}"/>
                </a:ext>
              </a:extLst>
            </p:cNvPr>
            <p:cNvSpPr/>
            <p:nvPr/>
          </p:nvSpPr>
          <p:spPr>
            <a:xfrm>
              <a:off x="8119811" y="1969392"/>
              <a:ext cx="78455" cy="78487"/>
            </a:xfrm>
            <a:custGeom>
              <a:avLst/>
              <a:gdLst/>
              <a:ahLst/>
              <a:cxnLst/>
              <a:rect l="l" t="t" r="r" b="b"/>
              <a:pathLst>
                <a:path w="2465" h="2466" extrusionOk="0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42;p87">
              <a:extLst>
                <a:ext uri="{FF2B5EF4-FFF2-40B4-BE49-F238E27FC236}">
                  <a16:creationId xmlns:a16="http://schemas.microsoft.com/office/drawing/2014/main" id="{B5D3266A-9673-40A0-BD54-9B1928B1BBDE}"/>
                </a:ext>
              </a:extLst>
            </p:cNvPr>
            <p:cNvSpPr/>
            <p:nvPr/>
          </p:nvSpPr>
          <p:spPr>
            <a:xfrm>
              <a:off x="8012202" y="2189575"/>
              <a:ext cx="134917" cy="89690"/>
            </a:xfrm>
            <a:custGeom>
              <a:avLst/>
              <a:gdLst/>
              <a:ahLst/>
              <a:cxnLst/>
              <a:rect l="l" t="t" r="r" b="b"/>
              <a:pathLst>
                <a:path w="4239" h="2818" extrusionOk="0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43;p87">
              <a:extLst>
                <a:ext uri="{FF2B5EF4-FFF2-40B4-BE49-F238E27FC236}">
                  <a16:creationId xmlns:a16="http://schemas.microsoft.com/office/drawing/2014/main" id="{E5954A24-FB5D-6E1B-7037-EC37968DABD8}"/>
                </a:ext>
              </a:extLst>
            </p:cNvPr>
            <p:cNvSpPr/>
            <p:nvPr/>
          </p:nvSpPr>
          <p:spPr>
            <a:xfrm>
              <a:off x="8099346" y="2059973"/>
              <a:ext cx="119385" cy="56016"/>
            </a:xfrm>
            <a:custGeom>
              <a:avLst/>
              <a:gdLst/>
              <a:ahLst/>
              <a:cxnLst/>
              <a:rect l="l" t="t" r="r" b="b"/>
              <a:pathLst>
                <a:path w="3751" h="1760" extrusionOk="0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44;p87">
              <a:extLst>
                <a:ext uri="{FF2B5EF4-FFF2-40B4-BE49-F238E27FC236}">
                  <a16:creationId xmlns:a16="http://schemas.microsoft.com/office/drawing/2014/main" id="{B8BD4A1D-590C-77DB-10EB-978E47BBA5D4}"/>
                </a:ext>
              </a:extLst>
            </p:cNvPr>
            <p:cNvSpPr/>
            <p:nvPr/>
          </p:nvSpPr>
          <p:spPr>
            <a:xfrm>
              <a:off x="8170194" y="2189925"/>
              <a:ext cx="135331" cy="89849"/>
            </a:xfrm>
            <a:custGeom>
              <a:avLst/>
              <a:gdLst/>
              <a:ahLst/>
              <a:cxnLst/>
              <a:rect l="l" t="t" r="r" b="b"/>
              <a:pathLst>
                <a:path w="4252" h="2823" extrusionOk="0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255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726FE209-FBB5-49F8-EF6B-646EE54C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F08E1318-BE1F-14A0-3674-57BE7EA6D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Red Team: Strategija Napada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02" name="Google Shape;3602;p45">
                <a:extLst>
                  <a:ext uri="{FF2B5EF4-FFF2-40B4-BE49-F238E27FC236}">
                    <a16:creationId xmlns:a16="http://schemas.microsoft.com/office/drawing/2014/main" id="{1AA2A599-83FA-F2D7-592E-92C5E292C01A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830580" y="1183924"/>
                <a:ext cx="5341620" cy="248129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r-HR" b="1" dirty="0"/>
                  <a:t>Cilj:</a:t>
                </a:r>
                <a:r>
                  <a:rPr lang="hr-HR" dirty="0"/>
                  <a:t> Simulacija APT napada (Advanced Persistent Threat).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r-HR" b="1" dirty="0"/>
                  <a:t>Alati:</a:t>
                </a:r>
                <a:r>
                  <a:rPr lang="hr-HR" dirty="0"/>
                  <a:t> MITRE CALDERA (Sandcat Agents) + Impacket (Python scripts).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r-HR" b="1" dirty="0"/>
                  <a:t>Lanac Napada (Kill Chain):</a:t>
                </a:r>
                <a:endParaRPr lang="hr-HR" dirty="0"/>
              </a:p>
              <a:p>
                <a:pPr marL="9398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hr-HR" b="1" dirty="0"/>
                  <a:t>Initial Access (T1078):</a:t>
                </a:r>
                <a:r>
                  <a:rPr lang="hr-HR" dirty="0"/>
                  <a:t> Compromised Credentials (SSH).</a:t>
                </a:r>
              </a:p>
              <a:p>
                <a:pPr marL="9398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hr-HR" b="1" dirty="0"/>
                  <a:t>Persistence (T1053):</a:t>
                </a:r>
                <a:r>
                  <a:rPr lang="hr-HR" dirty="0"/>
                  <a:t> Cron Jobs / Systemd Services.</a:t>
                </a:r>
              </a:p>
              <a:p>
                <a:pPr marL="9398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hr-HR" b="1" dirty="0"/>
                  <a:t>Lateral Movement (T1021.002):</a:t>
                </a:r>
                <a:r>
                  <a:rPr lang="hr-HR" dirty="0"/>
                  <a:t> SMB/PsExec (Linux </a:t>
                </a:r>
                <a14:m>
                  <m:oMath xmlns:m="http://schemas.openxmlformats.org/officeDocument/2006/math">
                    <m:r>
                      <a:rPr lang="hr-HR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hr-HR" dirty="0"/>
                  <a:t> Windows).</a:t>
                </a:r>
              </a:p>
              <a:p>
                <a:pPr marL="939800" lvl="1" indent="-342900" algn="l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hr-HR" b="1" dirty="0"/>
                  <a:t>Exfiltration (T1041):</a:t>
                </a:r>
                <a:r>
                  <a:rPr lang="hr-HR" dirty="0"/>
                  <a:t> HTTP POST (Data Theft).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602" name="Google Shape;3602;p45">
                <a:extLst>
                  <a:ext uri="{FF2B5EF4-FFF2-40B4-BE49-F238E27FC236}">
                    <a16:creationId xmlns:a16="http://schemas.microsoft.com/office/drawing/2014/main" id="{1AA2A599-83FA-F2D7-592E-92C5E292C01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30580" y="1183924"/>
                <a:ext cx="5341620" cy="24812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605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E5C94017-7C61-78B7-BD9B-56FF9919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C27808AB-160D-DD02-FD16-65110208F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Red Team: Strategija Napada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67F93-D715-1F86-F9EA-05EB274CAD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6" t="3071"/>
          <a:stretch>
            <a:fillRect/>
          </a:stretch>
        </p:blipFill>
        <p:spPr>
          <a:xfrm>
            <a:off x="869907" y="1493520"/>
            <a:ext cx="7404186" cy="270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3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37871083-01A3-1429-392E-24E90745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BB0405B5-0511-AFB1-BB77-0359E0B3C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Faza 1: Uspješna Eksploatacija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95E48BBC-9ADD-A900-E4BD-C9F1A48CCC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5341620" cy="3449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Status: ✅ POTPUNI USPJEH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Ključni Vektori Napada: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SSH Proboj / Slaba Lozinka </a:t>
            </a:r>
            <a:r>
              <a:rPr lang="hr-HR" dirty="0"/>
              <a:t>(webadmin).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Eskalacija Privilegija:</a:t>
            </a:r>
            <a:r>
              <a:rPr lang="hr-HR" dirty="0"/>
              <a:t> sudo NOPASSWD exploit (Shadow file dump).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Lateralno Kretanje:</a:t>
            </a:r>
            <a:r>
              <a:rPr lang="hr-HR" dirty="0"/>
              <a:t> Pronađene hardkodirane Admin vjerodajnice u /tmp.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Rezultat</a:t>
            </a:r>
            <a:r>
              <a:rPr lang="hr-HR" dirty="0"/>
              <a:t>: Kompromitiran Domain Admin i instaliran agent na Windowsima.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019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EE6422C3-BFA7-C9F1-A2A5-05FC8A6AB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2F106EE-3877-107B-8481-B73BE3D04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89" y="1067430"/>
            <a:ext cx="7397021" cy="399649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3D303C2-8517-2871-18B5-659B6F3D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Faza 1: Dokaz Uspjeha</a:t>
            </a:r>
          </a:p>
        </p:txBody>
      </p:sp>
    </p:spTree>
    <p:extLst>
      <p:ext uri="{BB962C8B-B14F-4D97-AF65-F5344CB8AC3E}">
        <p14:creationId xmlns:p14="http://schemas.microsoft.com/office/powerpoint/2010/main" val="55009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D4C90EE9-BA1A-56D5-6D62-7666E716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D506D73B-ABE1-01A9-0562-E97827FC77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Faza 2: Potvrda Zaštite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0F0C2A32-A53D-7F9A-A6DE-1F8B210092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5341620" cy="3449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Status:</a:t>
            </a:r>
            <a:r>
              <a:rPr lang="hr-HR" dirty="0"/>
              <a:t> 🛡️ </a:t>
            </a:r>
            <a:r>
              <a:rPr lang="hr-HR" b="1" dirty="0"/>
              <a:t>NAPAD BLOKIRAN</a:t>
            </a:r>
            <a:endParaRPr lang="hr-H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Rezultati Validacije	:</a:t>
            </a:r>
            <a:endParaRPr lang="hr-HR" dirty="0"/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Eskalacija Privilegija:</a:t>
            </a:r>
            <a:r>
              <a:rPr lang="hr-HR" dirty="0"/>
              <a:t> 🔴 FAILED (Sudo password required).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Krađa Vjerodajnica:</a:t>
            </a:r>
            <a:r>
              <a:rPr lang="hr-HR" dirty="0"/>
              <a:t> 🔴 FAILED (File removed).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Lateralno Kretanje:</a:t>
            </a:r>
            <a:r>
              <a:rPr lang="hr-HR" dirty="0"/>
              <a:t> 🔴 FAILED (Network Timeout / Firewall Block).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Zaključak:</a:t>
            </a:r>
            <a:r>
              <a:rPr lang="hr-HR" dirty="0"/>
              <a:t> Attack chain broken at Network &amp; Host level.</a:t>
            </a:r>
          </a:p>
        </p:txBody>
      </p:sp>
    </p:spTree>
    <p:extLst>
      <p:ext uri="{BB962C8B-B14F-4D97-AF65-F5344CB8AC3E}">
        <p14:creationId xmlns:p14="http://schemas.microsoft.com/office/powerpoint/2010/main" val="212037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0B918591-BE03-413C-3746-C44BAE38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CEFC647A-40D0-A015-AAB2-A71D3AF7B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Faza 2: Potvrda Zaštite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92D52DF7-FBED-0187-B1A3-206B200BB5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5341620" cy="3449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Status:</a:t>
            </a:r>
            <a:r>
              <a:rPr lang="hr-HR" dirty="0"/>
              <a:t> 🛡️ </a:t>
            </a:r>
            <a:r>
              <a:rPr lang="hr-HR" b="1" dirty="0"/>
              <a:t>BLOCKED / MITIGATED</a:t>
            </a:r>
            <a:endParaRPr lang="hr-HR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Validation Results:</a:t>
            </a:r>
            <a:endParaRPr lang="hr-HR" dirty="0"/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Privilege Escalation:</a:t>
            </a:r>
            <a:r>
              <a:rPr lang="hr-HR" dirty="0"/>
              <a:t> 🔴 FAILED (Sudo password required).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Credential Theft:</a:t>
            </a:r>
            <a:r>
              <a:rPr lang="hr-HR" dirty="0"/>
              <a:t> 🔴 FAILED (File removed).</a:t>
            </a:r>
          </a:p>
          <a:p>
            <a:pPr marL="939800" lvl="1" indent="-342900" algn="l">
              <a:lnSpc>
                <a:spcPct val="150000"/>
              </a:lnSpc>
              <a:buFont typeface="+mj-lt"/>
              <a:buAutoNum type="arabicPeriod"/>
            </a:pPr>
            <a:r>
              <a:rPr lang="hr-HR" b="1" dirty="0"/>
              <a:t>Lateral Movement:</a:t>
            </a:r>
            <a:r>
              <a:rPr lang="hr-HR" dirty="0"/>
              <a:t> 🔴 FAILED (Network Timeout / Firewall Block).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Conclusion:</a:t>
            </a:r>
            <a:r>
              <a:rPr lang="hr-HR" dirty="0"/>
              <a:t> Attack chain broken at Network &amp; Host level.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F1D98-A8B3-461E-1817-91E27FC68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89" y="1061182"/>
            <a:ext cx="7397021" cy="399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34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6F760DDB-C071-B3E1-3344-FD766C61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59195429-E068-A1FD-8908-6F20BB06F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Zaključak i Nalazi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C258D57E-5EA7-044B-4FA0-B431EBB2998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096000" cy="3449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Kritični Rizik:</a:t>
            </a:r>
            <a:r>
              <a:rPr lang="hr-HR" dirty="0"/>
              <a:t> Ravna mrežna topologija omogućila je brzo širenje napada.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Ljudska Pogreška:</a:t>
            </a:r>
            <a:r>
              <a:rPr lang="hr-HR" dirty="0"/>
              <a:t> Tvrdo kodirane (hardcoded) vjerodajnice uzrokovale su kompromitaciju domene.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Alati:</a:t>
            </a:r>
            <a:r>
              <a:rPr lang="hr-HR" dirty="0"/>
              <a:t> Bilo je potrebno koristiti prilagođene alate (Python/Impacket) kako bi se zaobišla zadana ograničenja.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Konačni Status:</a:t>
            </a:r>
            <a:r>
              <a:rPr lang="hr-HR" dirty="0"/>
              <a:t> Sustav je sada siguran od osnovnih TTP-ova (Tactics, Techniques, and Procedures).</a:t>
            </a:r>
          </a:p>
        </p:txBody>
      </p:sp>
    </p:spTree>
    <p:extLst>
      <p:ext uri="{BB962C8B-B14F-4D97-AF65-F5344CB8AC3E}">
        <p14:creationId xmlns:p14="http://schemas.microsoft.com/office/powerpoint/2010/main" val="276756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>
          <a:extLst>
            <a:ext uri="{FF2B5EF4-FFF2-40B4-BE49-F238E27FC236}">
              <a16:creationId xmlns:a16="http://schemas.microsoft.com/office/drawing/2014/main" id="{F61AAC6B-1588-C258-672C-5B27C416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4" name="Google Shape;3524;p43">
            <a:extLst>
              <a:ext uri="{FF2B5EF4-FFF2-40B4-BE49-F238E27FC236}">
                <a16:creationId xmlns:a16="http://schemas.microsoft.com/office/drawing/2014/main" id="{3A83A2D5-DB34-597A-FE6B-C8CA1477F20C}"/>
              </a:ext>
            </a:extLst>
          </p:cNvPr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525" name="Google Shape;3525;p43">
              <a:extLst>
                <a:ext uri="{FF2B5EF4-FFF2-40B4-BE49-F238E27FC236}">
                  <a16:creationId xmlns:a16="http://schemas.microsoft.com/office/drawing/2014/main" id="{CD6AD5D8-1168-BA1D-5BC2-DD22D0900D5D}"/>
                </a:ext>
              </a:extLst>
            </p:cNvPr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3">
              <a:extLst>
                <a:ext uri="{FF2B5EF4-FFF2-40B4-BE49-F238E27FC236}">
                  <a16:creationId xmlns:a16="http://schemas.microsoft.com/office/drawing/2014/main" id="{B40124D1-37AF-D5F1-6C8E-242E2EA64889}"/>
                </a:ext>
              </a:extLst>
            </p:cNvPr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3">
              <a:extLst>
                <a:ext uri="{FF2B5EF4-FFF2-40B4-BE49-F238E27FC236}">
                  <a16:creationId xmlns:a16="http://schemas.microsoft.com/office/drawing/2014/main" id="{9FDD98B4-FB43-9094-1B47-B6995892236A}"/>
                </a:ext>
              </a:extLst>
            </p:cNvPr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3">
              <a:extLst>
                <a:ext uri="{FF2B5EF4-FFF2-40B4-BE49-F238E27FC236}">
                  <a16:creationId xmlns:a16="http://schemas.microsoft.com/office/drawing/2014/main" id="{3BAEF5D6-21B8-97BC-160E-78BDFABDC645}"/>
                </a:ext>
              </a:extLst>
            </p:cNvPr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3">
              <a:extLst>
                <a:ext uri="{FF2B5EF4-FFF2-40B4-BE49-F238E27FC236}">
                  <a16:creationId xmlns:a16="http://schemas.microsoft.com/office/drawing/2014/main" id="{8E196BF7-D203-296B-D885-9086EA91164F}"/>
                </a:ext>
              </a:extLst>
            </p:cNvPr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3">
              <a:extLst>
                <a:ext uri="{FF2B5EF4-FFF2-40B4-BE49-F238E27FC236}">
                  <a16:creationId xmlns:a16="http://schemas.microsoft.com/office/drawing/2014/main" id="{BA03E04A-4451-FF68-F255-26869266E958}"/>
                </a:ext>
              </a:extLst>
            </p:cNvPr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3">
              <a:extLst>
                <a:ext uri="{FF2B5EF4-FFF2-40B4-BE49-F238E27FC236}">
                  <a16:creationId xmlns:a16="http://schemas.microsoft.com/office/drawing/2014/main" id="{467E1798-1A53-E382-1A14-46190D464485}"/>
                </a:ext>
              </a:extLst>
            </p:cNvPr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3">
              <a:extLst>
                <a:ext uri="{FF2B5EF4-FFF2-40B4-BE49-F238E27FC236}">
                  <a16:creationId xmlns:a16="http://schemas.microsoft.com/office/drawing/2014/main" id="{4494DD18-ACF5-577A-0E33-9902F451B2BE}"/>
                </a:ext>
              </a:extLst>
            </p:cNvPr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3">
              <a:extLst>
                <a:ext uri="{FF2B5EF4-FFF2-40B4-BE49-F238E27FC236}">
                  <a16:creationId xmlns:a16="http://schemas.microsoft.com/office/drawing/2014/main" id="{37480CE2-E5F8-679F-3E41-06A36C6D2EC0}"/>
                </a:ext>
              </a:extLst>
            </p:cNvPr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3">
              <a:extLst>
                <a:ext uri="{FF2B5EF4-FFF2-40B4-BE49-F238E27FC236}">
                  <a16:creationId xmlns:a16="http://schemas.microsoft.com/office/drawing/2014/main" id="{71D9E687-A944-CD6F-E188-330B8D8E53AC}"/>
                </a:ext>
              </a:extLst>
            </p:cNvPr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3">
              <a:extLst>
                <a:ext uri="{FF2B5EF4-FFF2-40B4-BE49-F238E27FC236}">
                  <a16:creationId xmlns:a16="http://schemas.microsoft.com/office/drawing/2014/main" id="{2459A6D9-1913-6945-5CA3-7AE9101B9F30}"/>
                </a:ext>
              </a:extLst>
            </p:cNvPr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3">
              <a:extLst>
                <a:ext uri="{FF2B5EF4-FFF2-40B4-BE49-F238E27FC236}">
                  <a16:creationId xmlns:a16="http://schemas.microsoft.com/office/drawing/2014/main" id="{AB8DE9D0-2053-9C38-1DF1-9C02EE79BB47}"/>
                </a:ext>
              </a:extLst>
            </p:cNvPr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3">
              <a:extLst>
                <a:ext uri="{FF2B5EF4-FFF2-40B4-BE49-F238E27FC236}">
                  <a16:creationId xmlns:a16="http://schemas.microsoft.com/office/drawing/2014/main" id="{9C92BB5E-CA35-1139-A4F0-F21EAB369856}"/>
                </a:ext>
              </a:extLst>
            </p:cNvPr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3">
              <a:extLst>
                <a:ext uri="{FF2B5EF4-FFF2-40B4-BE49-F238E27FC236}">
                  <a16:creationId xmlns:a16="http://schemas.microsoft.com/office/drawing/2014/main" id="{BC1C5F41-1897-1CC5-FD01-E3AE55FF69E6}"/>
                </a:ext>
              </a:extLst>
            </p:cNvPr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3">
              <a:extLst>
                <a:ext uri="{FF2B5EF4-FFF2-40B4-BE49-F238E27FC236}">
                  <a16:creationId xmlns:a16="http://schemas.microsoft.com/office/drawing/2014/main" id="{491EFA34-23D4-3A47-8C00-57FC8E9BF140}"/>
                </a:ext>
              </a:extLst>
            </p:cNvPr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3">
              <a:extLst>
                <a:ext uri="{FF2B5EF4-FFF2-40B4-BE49-F238E27FC236}">
                  <a16:creationId xmlns:a16="http://schemas.microsoft.com/office/drawing/2014/main" id="{32A7369C-C3EC-C3E9-EB0F-8A8464CBDED7}"/>
                </a:ext>
              </a:extLst>
            </p:cNvPr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3">
              <a:extLst>
                <a:ext uri="{FF2B5EF4-FFF2-40B4-BE49-F238E27FC236}">
                  <a16:creationId xmlns:a16="http://schemas.microsoft.com/office/drawing/2014/main" id="{C699109B-9489-C12E-2787-80ADBCE1A5B5}"/>
                </a:ext>
              </a:extLst>
            </p:cNvPr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3">
              <a:extLst>
                <a:ext uri="{FF2B5EF4-FFF2-40B4-BE49-F238E27FC236}">
                  <a16:creationId xmlns:a16="http://schemas.microsoft.com/office/drawing/2014/main" id="{D9A40D1C-C468-3C8B-A6B8-862365BB760D}"/>
                </a:ext>
              </a:extLst>
            </p:cNvPr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3">
              <a:extLst>
                <a:ext uri="{FF2B5EF4-FFF2-40B4-BE49-F238E27FC236}">
                  <a16:creationId xmlns:a16="http://schemas.microsoft.com/office/drawing/2014/main" id="{60E220DA-0E4C-DB44-DF95-0181DF956F5D}"/>
                </a:ext>
              </a:extLst>
            </p:cNvPr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3">
              <a:extLst>
                <a:ext uri="{FF2B5EF4-FFF2-40B4-BE49-F238E27FC236}">
                  <a16:creationId xmlns:a16="http://schemas.microsoft.com/office/drawing/2014/main" id="{3F8BE108-B3C4-0C42-038E-F7CD90D3B81E}"/>
                </a:ext>
              </a:extLst>
            </p:cNvPr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3">
              <a:extLst>
                <a:ext uri="{FF2B5EF4-FFF2-40B4-BE49-F238E27FC236}">
                  <a16:creationId xmlns:a16="http://schemas.microsoft.com/office/drawing/2014/main" id="{404B9EA0-CADC-9DA4-E046-D4ACA2C542D0}"/>
                </a:ext>
              </a:extLst>
            </p:cNvPr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3">
              <a:extLst>
                <a:ext uri="{FF2B5EF4-FFF2-40B4-BE49-F238E27FC236}">
                  <a16:creationId xmlns:a16="http://schemas.microsoft.com/office/drawing/2014/main" id="{D09A6574-80B8-FFF5-80E1-2D6E026B40C1}"/>
                </a:ext>
              </a:extLst>
            </p:cNvPr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3">
              <a:extLst>
                <a:ext uri="{FF2B5EF4-FFF2-40B4-BE49-F238E27FC236}">
                  <a16:creationId xmlns:a16="http://schemas.microsoft.com/office/drawing/2014/main" id="{933E535E-D6F5-D4B6-4761-4AB23599C933}"/>
                </a:ext>
              </a:extLst>
            </p:cNvPr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3">
              <a:extLst>
                <a:ext uri="{FF2B5EF4-FFF2-40B4-BE49-F238E27FC236}">
                  <a16:creationId xmlns:a16="http://schemas.microsoft.com/office/drawing/2014/main" id="{46C12B05-2982-51B8-0C51-D147FE100141}"/>
                </a:ext>
              </a:extLst>
            </p:cNvPr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3">
              <a:extLst>
                <a:ext uri="{FF2B5EF4-FFF2-40B4-BE49-F238E27FC236}">
                  <a16:creationId xmlns:a16="http://schemas.microsoft.com/office/drawing/2014/main" id="{80D353BE-3C0D-6190-5EA1-E94F356A5167}"/>
                </a:ext>
              </a:extLst>
            </p:cNvPr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3">
              <a:extLst>
                <a:ext uri="{FF2B5EF4-FFF2-40B4-BE49-F238E27FC236}">
                  <a16:creationId xmlns:a16="http://schemas.microsoft.com/office/drawing/2014/main" id="{99258404-C45A-A4D8-8F86-DE26A148C7DE}"/>
                </a:ext>
              </a:extLst>
            </p:cNvPr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3">
              <a:extLst>
                <a:ext uri="{FF2B5EF4-FFF2-40B4-BE49-F238E27FC236}">
                  <a16:creationId xmlns:a16="http://schemas.microsoft.com/office/drawing/2014/main" id="{C70A6D58-FE2F-ED4F-8A62-29F75AC94F5A}"/>
                </a:ext>
              </a:extLst>
            </p:cNvPr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3">
              <a:extLst>
                <a:ext uri="{FF2B5EF4-FFF2-40B4-BE49-F238E27FC236}">
                  <a16:creationId xmlns:a16="http://schemas.microsoft.com/office/drawing/2014/main" id="{21BAE1EF-CC79-AD33-15A0-4E0C231E4BEF}"/>
                </a:ext>
              </a:extLst>
            </p:cNvPr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3">
              <a:extLst>
                <a:ext uri="{FF2B5EF4-FFF2-40B4-BE49-F238E27FC236}">
                  <a16:creationId xmlns:a16="http://schemas.microsoft.com/office/drawing/2014/main" id="{D257A5FE-AC95-F5A2-D4A8-271082929865}"/>
                </a:ext>
              </a:extLst>
            </p:cNvPr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3">
              <a:extLst>
                <a:ext uri="{FF2B5EF4-FFF2-40B4-BE49-F238E27FC236}">
                  <a16:creationId xmlns:a16="http://schemas.microsoft.com/office/drawing/2014/main" id="{EF7CF050-6363-4B0C-E6C4-603477C23BD0}"/>
                </a:ext>
              </a:extLst>
            </p:cNvPr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3">
              <a:extLst>
                <a:ext uri="{FF2B5EF4-FFF2-40B4-BE49-F238E27FC236}">
                  <a16:creationId xmlns:a16="http://schemas.microsoft.com/office/drawing/2014/main" id="{9AAB7DF5-5B5A-C471-002B-77F5AF6C5973}"/>
                </a:ext>
              </a:extLst>
            </p:cNvPr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3">
              <a:extLst>
                <a:ext uri="{FF2B5EF4-FFF2-40B4-BE49-F238E27FC236}">
                  <a16:creationId xmlns:a16="http://schemas.microsoft.com/office/drawing/2014/main" id="{82004CCF-8884-3A1E-E2D2-FDD3D8C18ABF}"/>
                </a:ext>
              </a:extLst>
            </p:cNvPr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3">
              <a:extLst>
                <a:ext uri="{FF2B5EF4-FFF2-40B4-BE49-F238E27FC236}">
                  <a16:creationId xmlns:a16="http://schemas.microsoft.com/office/drawing/2014/main" id="{68EBDD7F-B72C-A97A-D633-95908D1C2FD9}"/>
                </a:ext>
              </a:extLst>
            </p:cNvPr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3">
              <a:extLst>
                <a:ext uri="{FF2B5EF4-FFF2-40B4-BE49-F238E27FC236}">
                  <a16:creationId xmlns:a16="http://schemas.microsoft.com/office/drawing/2014/main" id="{C87DE204-DFF7-8417-979E-7981A1A6D7A6}"/>
                </a:ext>
              </a:extLst>
            </p:cNvPr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3">
              <a:extLst>
                <a:ext uri="{FF2B5EF4-FFF2-40B4-BE49-F238E27FC236}">
                  <a16:creationId xmlns:a16="http://schemas.microsoft.com/office/drawing/2014/main" id="{3EABBD64-293B-F422-2A77-ECF93E67BEC1}"/>
                </a:ext>
              </a:extLst>
            </p:cNvPr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3">
              <a:extLst>
                <a:ext uri="{FF2B5EF4-FFF2-40B4-BE49-F238E27FC236}">
                  <a16:creationId xmlns:a16="http://schemas.microsoft.com/office/drawing/2014/main" id="{FE56C706-F612-60B4-B7E5-72BFB9B4E78D}"/>
                </a:ext>
              </a:extLst>
            </p:cNvPr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1" name="Google Shape;3561;p43">
            <a:extLst>
              <a:ext uri="{FF2B5EF4-FFF2-40B4-BE49-F238E27FC236}">
                <a16:creationId xmlns:a16="http://schemas.microsoft.com/office/drawing/2014/main" id="{85001999-68AE-9BFE-36E6-433C6289DA19}"/>
              </a:ext>
            </a:extLst>
          </p:cNvPr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43">
            <a:extLst>
              <a:ext uri="{FF2B5EF4-FFF2-40B4-BE49-F238E27FC236}">
                <a16:creationId xmlns:a16="http://schemas.microsoft.com/office/drawing/2014/main" id="{CC9C115F-2026-2D16-8062-C51FA6030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sz="2800" dirty="0" err="1"/>
              <a:t>Threat</a:t>
            </a:r>
            <a:r>
              <a:rPr lang="hr-HR" sz="2800" dirty="0"/>
              <a:t> </a:t>
            </a:r>
            <a:r>
              <a:rPr lang="hr-HR" sz="2800" dirty="0" err="1"/>
              <a:t>hunter</a:t>
            </a:r>
            <a:r>
              <a:rPr lang="hr-HR" sz="2800" dirty="0"/>
              <a:t>/Analitičar</a:t>
            </a:r>
            <a:endParaRPr sz="2800" dirty="0"/>
          </a:p>
        </p:txBody>
      </p:sp>
      <p:sp>
        <p:nvSpPr>
          <p:cNvPr id="3563" name="Google Shape;3563;p43">
            <a:extLst>
              <a:ext uri="{FF2B5EF4-FFF2-40B4-BE49-F238E27FC236}">
                <a16:creationId xmlns:a16="http://schemas.microsoft.com/office/drawing/2014/main" id="{03F82EE7-4A6D-8994-0C9C-D3C634F6B24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r-HR" dirty="0"/>
              <a:t>4</a:t>
            </a:r>
            <a:endParaRPr dirty="0"/>
          </a:p>
        </p:txBody>
      </p:sp>
      <p:grpSp>
        <p:nvGrpSpPr>
          <p:cNvPr id="3567" name="Google Shape;3567;p43">
            <a:extLst>
              <a:ext uri="{FF2B5EF4-FFF2-40B4-BE49-F238E27FC236}">
                <a16:creationId xmlns:a16="http://schemas.microsoft.com/office/drawing/2014/main" id="{E2DBAFAC-992E-D4B1-737D-CB6DCD85209C}"/>
              </a:ext>
            </a:extLst>
          </p:cNvPr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568" name="Google Shape;3568;p43">
              <a:extLst>
                <a:ext uri="{FF2B5EF4-FFF2-40B4-BE49-F238E27FC236}">
                  <a16:creationId xmlns:a16="http://schemas.microsoft.com/office/drawing/2014/main" id="{F9F1FE95-E404-435D-A0C6-38BE9373703B}"/>
                </a:ext>
              </a:extLst>
            </p:cNvPr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3">
              <a:extLst>
                <a:ext uri="{FF2B5EF4-FFF2-40B4-BE49-F238E27FC236}">
                  <a16:creationId xmlns:a16="http://schemas.microsoft.com/office/drawing/2014/main" id="{E7C7A26E-4966-D7E2-8BBD-EFF722A125A3}"/>
                </a:ext>
              </a:extLst>
            </p:cNvPr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3">
              <a:extLst>
                <a:ext uri="{FF2B5EF4-FFF2-40B4-BE49-F238E27FC236}">
                  <a16:creationId xmlns:a16="http://schemas.microsoft.com/office/drawing/2014/main" id="{320F8312-2813-C194-71D7-FA75EB9AEC88}"/>
                </a:ext>
              </a:extLst>
            </p:cNvPr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3">
              <a:extLst>
                <a:ext uri="{FF2B5EF4-FFF2-40B4-BE49-F238E27FC236}">
                  <a16:creationId xmlns:a16="http://schemas.microsoft.com/office/drawing/2014/main" id="{BE086821-1C07-9FAD-F2F2-217DC283A425}"/>
                </a:ext>
              </a:extLst>
            </p:cNvPr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3">
              <a:extLst>
                <a:ext uri="{FF2B5EF4-FFF2-40B4-BE49-F238E27FC236}">
                  <a16:creationId xmlns:a16="http://schemas.microsoft.com/office/drawing/2014/main" id="{1BCD8FBA-14A7-EC14-3C7A-CB7EC6902EC0}"/>
                </a:ext>
              </a:extLst>
            </p:cNvPr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3">
              <a:extLst>
                <a:ext uri="{FF2B5EF4-FFF2-40B4-BE49-F238E27FC236}">
                  <a16:creationId xmlns:a16="http://schemas.microsoft.com/office/drawing/2014/main" id="{2E1659DC-C204-5A31-4723-17E459D82EB5}"/>
                </a:ext>
              </a:extLst>
            </p:cNvPr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3">
              <a:extLst>
                <a:ext uri="{FF2B5EF4-FFF2-40B4-BE49-F238E27FC236}">
                  <a16:creationId xmlns:a16="http://schemas.microsoft.com/office/drawing/2014/main" id="{D484A34F-6469-F9FD-8F82-42E8F64EE6CB}"/>
                </a:ext>
              </a:extLst>
            </p:cNvPr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3">
              <a:extLst>
                <a:ext uri="{FF2B5EF4-FFF2-40B4-BE49-F238E27FC236}">
                  <a16:creationId xmlns:a16="http://schemas.microsoft.com/office/drawing/2014/main" id="{AFF3E0A7-1D34-F122-49B6-DFC3B85676C1}"/>
                </a:ext>
              </a:extLst>
            </p:cNvPr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3">
              <a:extLst>
                <a:ext uri="{FF2B5EF4-FFF2-40B4-BE49-F238E27FC236}">
                  <a16:creationId xmlns:a16="http://schemas.microsoft.com/office/drawing/2014/main" id="{FEF34193-51F8-C6D4-9E3E-A818F113F1AC}"/>
                </a:ext>
              </a:extLst>
            </p:cNvPr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3">
              <a:extLst>
                <a:ext uri="{FF2B5EF4-FFF2-40B4-BE49-F238E27FC236}">
                  <a16:creationId xmlns:a16="http://schemas.microsoft.com/office/drawing/2014/main" id="{CA958EE5-DB9B-6CED-BA7A-9E2EC0A06D1E}"/>
                </a:ext>
              </a:extLst>
            </p:cNvPr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3">
              <a:extLst>
                <a:ext uri="{FF2B5EF4-FFF2-40B4-BE49-F238E27FC236}">
                  <a16:creationId xmlns:a16="http://schemas.microsoft.com/office/drawing/2014/main" id="{88628E34-2A7B-41FA-D862-B4BC2F8C2D84}"/>
                </a:ext>
              </a:extLst>
            </p:cNvPr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3">
              <a:extLst>
                <a:ext uri="{FF2B5EF4-FFF2-40B4-BE49-F238E27FC236}">
                  <a16:creationId xmlns:a16="http://schemas.microsoft.com/office/drawing/2014/main" id="{F76ED33E-9530-7400-8388-005556E75E0F}"/>
                </a:ext>
              </a:extLst>
            </p:cNvPr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3">
              <a:extLst>
                <a:ext uri="{FF2B5EF4-FFF2-40B4-BE49-F238E27FC236}">
                  <a16:creationId xmlns:a16="http://schemas.microsoft.com/office/drawing/2014/main" id="{73AAC13D-9B26-8702-E078-2FDCDC722E50}"/>
                </a:ext>
              </a:extLst>
            </p:cNvPr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13835;p87">
            <a:extLst>
              <a:ext uri="{FF2B5EF4-FFF2-40B4-BE49-F238E27FC236}">
                <a16:creationId xmlns:a16="http://schemas.microsoft.com/office/drawing/2014/main" id="{24931DB3-DB93-7AC5-7F40-142F9C4B5192}"/>
              </a:ext>
            </a:extLst>
          </p:cNvPr>
          <p:cNvGrpSpPr/>
          <p:nvPr/>
        </p:nvGrpSpPr>
        <p:grpSpPr>
          <a:xfrm>
            <a:off x="3794510" y="751550"/>
            <a:ext cx="2055011" cy="1475258"/>
            <a:chOff x="7978465" y="1969392"/>
            <a:chExt cx="361147" cy="360797"/>
          </a:xfrm>
        </p:grpSpPr>
        <p:sp>
          <p:nvSpPr>
            <p:cNvPr id="5" name="Google Shape;13836;p87">
              <a:extLst>
                <a:ext uri="{FF2B5EF4-FFF2-40B4-BE49-F238E27FC236}">
                  <a16:creationId xmlns:a16="http://schemas.microsoft.com/office/drawing/2014/main" id="{F2D2AA3F-6679-D932-9CA1-7C358ACB8AB5}"/>
                </a:ext>
              </a:extLst>
            </p:cNvPr>
            <p:cNvSpPr/>
            <p:nvPr/>
          </p:nvSpPr>
          <p:spPr>
            <a:xfrm>
              <a:off x="8136871" y="2285821"/>
              <a:ext cx="44368" cy="44368"/>
            </a:xfrm>
            <a:custGeom>
              <a:avLst/>
              <a:gdLst/>
              <a:ahLst/>
              <a:cxnLst/>
              <a:rect l="l" t="t" r="r" b="b"/>
              <a:pathLst>
                <a:path w="1394" h="1394" extrusionOk="0">
                  <a:moveTo>
                    <a:pt x="691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691" y="1072"/>
                  </a:cubicBezTo>
                  <a:cubicBezTo>
                    <a:pt x="488" y="1072"/>
                    <a:pt x="322" y="905"/>
                    <a:pt x="322" y="703"/>
                  </a:cubicBezTo>
                  <a:cubicBezTo>
                    <a:pt x="322" y="488"/>
                    <a:pt x="488" y="322"/>
                    <a:pt x="691" y="322"/>
                  </a:cubicBezTo>
                  <a:close/>
                  <a:moveTo>
                    <a:pt x="691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691" y="1393"/>
                  </a:cubicBezTo>
                  <a:cubicBezTo>
                    <a:pt x="1084" y="1393"/>
                    <a:pt x="1393" y="1084"/>
                    <a:pt x="1393" y="703"/>
                  </a:cubicBezTo>
                  <a:cubicBezTo>
                    <a:pt x="1393" y="310"/>
                    <a:pt x="1084" y="0"/>
                    <a:pt x="69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837;p87">
              <a:extLst>
                <a:ext uri="{FF2B5EF4-FFF2-40B4-BE49-F238E27FC236}">
                  <a16:creationId xmlns:a16="http://schemas.microsoft.com/office/drawing/2014/main" id="{C38C02E7-5FBF-F394-1E1D-6AEB7A796F09}"/>
                </a:ext>
              </a:extLst>
            </p:cNvPr>
            <p:cNvSpPr/>
            <p:nvPr/>
          </p:nvSpPr>
          <p:spPr>
            <a:xfrm>
              <a:off x="8210010" y="2121719"/>
              <a:ext cx="56112" cy="56112"/>
            </a:xfrm>
            <a:custGeom>
              <a:avLst/>
              <a:gdLst/>
              <a:ahLst/>
              <a:cxnLst/>
              <a:rect l="l" t="t" r="r" b="b"/>
              <a:pathLst>
                <a:path w="1763" h="1763" extrusionOk="0">
                  <a:moveTo>
                    <a:pt x="881" y="334"/>
                  </a:moveTo>
                  <a:cubicBezTo>
                    <a:pt x="1191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3" y="1430"/>
                    <a:pt x="333" y="1191"/>
                    <a:pt x="333" y="882"/>
                  </a:cubicBezTo>
                  <a:cubicBezTo>
                    <a:pt x="333" y="584"/>
                    <a:pt x="572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93" y="1763"/>
                    <a:pt x="881" y="1763"/>
                  </a:cubicBezTo>
                  <a:cubicBezTo>
                    <a:pt x="1357" y="1763"/>
                    <a:pt x="1762" y="1370"/>
                    <a:pt x="1762" y="882"/>
                  </a:cubicBezTo>
                  <a:cubicBezTo>
                    <a:pt x="1762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838;p87">
              <a:extLst>
                <a:ext uri="{FF2B5EF4-FFF2-40B4-BE49-F238E27FC236}">
                  <a16:creationId xmlns:a16="http://schemas.microsoft.com/office/drawing/2014/main" id="{8C91DEE0-E25F-E7B5-B172-6A7E63B9EECA}"/>
                </a:ext>
              </a:extLst>
            </p:cNvPr>
            <p:cNvSpPr/>
            <p:nvPr/>
          </p:nvSpPr>
          <p:spPr>
            <a:xfrm>
              <a:off x="8051987" y="2121719"/>
              <a:ext cx="55730" cy="56112"/>
            </a:xfrm>
            <a:custGeom>
              <a:avLst/>
              <a:gdLst/>
              <a:ahLst/>
              <a:cxnLst/>
              <a:rect l="l" t="t" r="r" b="b"/>
              <a:pathLst>
                <a:path w="1751" h="1763" extrusionOk="0">
                  <a:moveTo>
                    <a:pt x="881" y="334"/>
                  </a:moveTo>
                  <a:cubicBezTo>
                    <a:pt x="1179" y="334"/>
                    <a:pt x="1429" y="572"/>
                    <a:pt x="1429" y="882"/>
                  </a:cubicBezTo>
                  <a:cubicBezTo>
                    <a:pt x="1417" y="1180"/>
                    <a:pt x="1179" y="1430"/>
                    <a:pt x="881" y="1430"/>
                  </a:cubicBezTo>
                  <a:cubicBezTo>
                    <a:pt x="584" y="1430"/>
                    <a:pt x="322" y="1191"/>
                    <a:pt x="322" y="882"/>
                  </a:cubicBezTo>
                  <a:cubicBezTo>
                    <a:pt x="322" y="572"/>
                    <a:pt x="560" y="334"/>
                    <a:pt x="881" y="334"/>
                  </a:cubicBezTo>
                  <a:close/>
                  <a:moveTo>
                    <a:pt x="881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58"/>
                    <a:pt x="381" y="1763"/>
                    <a:pt x="881" y="1763"/>
                  </a:cubicBezTo>
                  <a:cubicBezTo>
                    <a:pt x="1357" y="1763"/>
                    <a:pt x="1750" y="1370"/>
                    <a:pt x="1750" y="882"/>
                  </a:cubicBezTo>
                  <a:cubicBezTo>
                    <a:pt x="1750" y="406"/>
                    <a:pt x="1357" y="1"/>
                    <a:pt x="88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839;p87">
              <a:extLst>
                <a:ext uri="{FF2B5EF4-FFF2-40B4-BE49-F238E27FC236}">
                  <a16:creationId xmlns:a16="http://schemas.microsoft.com/office/drawing/2014/main" id="{14A5E8B3-709E-B8E7-E2B1-AEEC9DF20F81}"/>
                </a:ext>
              </a:extLst>
            </p:cNvPr>
            <p:cNvSpPr/>
            <p:nvPr/>
          </p:nvSpPr>
          <p:spPr>
            <a:xfrm>
              <a:off x="7978465" y="2285821"/>
              <a:ext cx="44749" cy="44368"/>
            </a:xfrm>
            <a:custGeom>
              <a:avLst/>
              <a:gdLst/>
              <a:ahLst/>
              <a:cxnLst/>
              <a:rect l="l" t="t" r="r" b="b"/>
              <a:pathLst>
                <a:path w="1406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9" y="1072"/>
                    <a:pt x="334" y="905"/>
                    <a:pt x="334" y="703"/>
                  </a:cubicBezTo>
                  <a:cubicBezTo>
                    <a:pt x="334" y="488"/>
                    <a:pt x="489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840;p87">
              <a:extLst>
                <a:ext uri="{FF2B5EF4-FFF2-40B4-BE49-F238E27FC236}">
                  <a16:creationId xmlns:a16="http://schemas.microsoft.com/office/drawing/2014/main" id="{25F4EA3B-7C12-E3F8-F33C-A7927C0C8661}"/>
                </a:ext>
              </a:extLst>
            </p:cNvPr>
            <p:cNvSpPr/>
            <p:nvPr/>
          </p:nvSpPr>
          <p:spPr>
            <a:xfrm>
              <a:off x="8294894" y="2285821"/>
              <a:ext cx="44718" cy="44368"/>
            </a:xfrm>
            <a:custGeom>
              <a:avLst/>
              <a:gdLst/>
              <a:ahLst/>
              <a:cxnLst/>
              <a:rect l="l" t="t" r="r" b="b"/>
              <a:pathLst>
                <a:path w="1405" h="1394" extrusionOk="0">
                  <a:moveTo>
                    <a:pt x="703" y="322"/>
                  </a:moveTo>
                  <a:cubicBezTo>
                    <a:pt x="905" y="322"/>
                    <a:pt x="1072" y="488"/>
                    <a:pt x="1072" y="703"/>
                  </a:cubicBezTo>
                  <a:cubicBezTo>
                    <a:pt x="1072" y="905"/>
                    <a:pt x="893" y="1072"/>
                    <a:pt x="703" y="1072"/>
                  </a:cubicBezTo>
                  <a:cubicBezTo>
                    <a:pt x="488" y="1072"/>
                    <a:pt x="333" y="905"/>
                    <a:pt x="333" y="703"/>
                  </a:cubicBezTo>
                  <a:cubicBezTo>
                    <a:pt x="333" y="488"/>
                    <a:pt x="488" y="322"/>
                    <a:pt x="703" y="322"/>
                  </a:cubicBezTo>
                  <a:close/>
                  <a:moveTo>
                    <a:pt x="703" y="0"/>
                  </a:moveTo>
                  <a:cubicBezTo>
                    <a:pt x="310" y="0"/>
                    <a:pt x="0" y="310"/>
                    <a:pt x="0" y="703"/>
                  </a:cubicBezTo>
                  <a:cubicBezTo>
                    <a:pt x="0" y="1084"/>
                    <a:pt x="310" y="1393"/>
                    <a:pt x="703" y="1393"/>
                  </a:cubicBezTo>
                  <a:cubicBezTo>
                    <a:pt x="1084" y="1393"/>
                    <a:pt x="1405" y="1084"/>
                    <a:pt x="1405" y="703"/>
                  </a:cubicBezTo>
                  <a:cubicBezTo>
                    <a:pt x="1405" y="310"/>
                    <a:pt x="1084" y="0"/>
                    <a:pt x="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841;p87">
              <a:extLst>
                <a:ext uri="{FF2B5EF4-FFF2-40B4-BE49-F238E27FC236}">
                  <a16:creationId xmlns:a16="http://schemas.microsoft.com/office/drawing/2014/main" id="{2EEA4389-073A-83DF-39D9-A17069C564E2}"/>
                </a:ext>
              </a:extLst>
            </p:cNvPr>
            <p:cNvSpPr/>
            <p:nvPr/>
          </p:nvSpPr>
          <p:spPr>
            <a:xfrm>
              <a:off x="8119811" y="1969392"/>
              <a:ext cx="78455" cy="78487"/>
            </a:xfrm>
            <a:custGeom>
              <a:avLst/>
              <a:gdLst/>
              <a:ahLst/>
              <a:cxnLst/>
              <a:rect l="l" t="t" r="r" b="b"/>
              <a:pathLst>
                <a:path w="2465" h="2466" extrusionOk="0">
                  <a:moveTo>
                    <a:pt x="1227" y="346"/>
                  </a:moveTo>
                  <a:cubicBezTo>
                    <a:pt x="1727" y="346"/>
                    <a:pt x="2120" y="739"/>
                    <a:pt x="2120" y="1239"/>
                  </a:cubicBezTo>
                  <a:cubicBezTo>
                    <a:pt x="2120" y="1727"/>
                    <a:pt x="1727" y="2132"/>
                    <a:pt x="1227" y="2132"/>
                  </a:cubicBezTo>
                  <a:cubicBezTo>
                    <a:pt x="739" y="2132"/>
                    <a:pt x="334" y="1727"/>
                    <a:pt x="334" y="1239"/>
                  </a:cubicBezTo>
                  <a:cubicBezTo>
                    <a:pt x="334" y="739"/>
                    <a:pt x="739" y="346"/>
                    <a:pt x="1227" y="346"/>
                  </a:cubicBezTo>
                  <a:close/>
                  <a:moveTo>
                    <a:pt x="1227" y="1"/>
                  </a:moveTo>
                  <a:cubicBezTo>
                    <a:pt x="548" y="1"/>
                    <a:pt x="0" y="548"/>
                    <a:pt x="0" y="1239"/>
                  </a:cubicBezTo>
                  <a:cubicBezTo>
                    <a:pt x="0" y="1917"/>
                    <a:pt x="548" y="2465"/>
                    <a:pt x="1227" y="2465"/>
                  </a:cubicBezTo>
                  <a:cubicBezTo>
                    <a:pt x="1917" y="2465"/>
                    <a:pt x="2465" y="1917"/>
                    <a:pt x="2465" y="1239"/>
                  </a:cubicBezTo>
                  <a:cubicBezTo>
                    <a:pt x="2465" y="548"/>
                    <a:pt x="1905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842;p87">
              <a:extLst>
                <a:ext uri="{FF2B5EF4-FFF2-40B4-BE49-F238E27FC236}">
                  <a16:creationId xmlns:a16="http://schemas.microsoft.com/office/drawing/2014/main" id="{310E9644-23F1-6406-22A0-11F994A5E20B}"/>
                </a:ext>
              </a:extLst>
            </p:cNvPr>
            <p:cNvSpPr/>
            <p:nvPr/>
          </p:nvSpPr>
          <p:spPr>
            <a:xfrm>
              <a:off x="8012202" y="2189575"/>
              <a:ext cx="134917" cy="89690"/>
            </a:xfrm>
            <a:custGeom>
              <a:avLst/>
              <a:gdLst/>
              <a:ahLst/>
              <a:cxnLst/>
              <a:rect l="l" t="t" r="r" b="b"/>
              <a:pathLst>
                <a:path w="4239" h="2818" extrusionOk="0">
                  <a:moveTo>
                    <a:pt x="2107" y="0"/>
                  </a:moveTo>
                  <a:cubicBezTo>
                    <a:pt x="2024" y="0"/>
                    <a:pt x="1953" y="71"/>
                    <a:pt x="1953" y="167"/>
                  </a:cubicBezTo>
                  <a:lnTo>
                    <a:pt x="1953" y="1417"/>
                  </a:lnTo>
                  <a:lnTo>
                    <a:pt x="1072" y="1417"/>
                  </a:lnTo>
                  <a:cubicBezTo>
                    <a:pt x="822" y="1417"/>
                    <a:pt x="583" y="1560"/>
                    <a:pt x="464" y="1786"/>
                  </a:cubicBezTo>
                  <a:lnTo>
                    <a:pt x="48" y="2560"/>
                  </a:lnTo>
                  <a:cubicBezTo>
                    <a:pt x="0" y="2631"/>
                    <a:pt x="24" y="2738"/>
                    <a:pt x="119" y="2786"/>
                  </a:cubicBezTo>
                  <a:cubicBezTo>
                    <a:pt x="143" y="2798"/>
                    <a:pt x="167" y="2798"/>
                    <a:pt x="191" y="2798"/>
                  </a:cubicBezTo>
                  <a:cubicBezTo>
                    <a:pt x="250" y="2798"/>
                    <a:pt x="310" y="2774"/>
                    <a:pt x="345" y="2715"/>
                  </a:cubicBezTo>
                  <a:lnTo>
                    <a:pt x="762" y="1941"/>
                  </a:lnTo>
                  <a:cubicBezTo>
                    <a:pt x="822" y="1822"/>
                    <a:pt x="953" y="1738"/>
                    <a:pt x="1083" y="1738"/>
                  </a:cubicBezTo>
                  <a:lnTo>
                    <a:pt x="3167" y="1738"/>
                  </a:lnTo>
                  <a:cubicBezTo>
                    <a:pt x="3298" y="1738"/>
                    <a:pt x="3417" y="1822"/>
                    <a:pt x="3500" y="1941"/>
                  </a:cubicBezTo>
                  <a:lnTo>
                    <a:pt x="3917" y="2727"/>
                  </a:lnTo>
                  <a:cubicBezTo>
                    <a:pt x="3943" y="2778"/>
                    <a:pt x="4006" y="2817"/>
                    <a:pt x="4066" y="2817"/>
                  </a:cubicBezTo>
                  <a:cubicBezTo>
                    <a:pt x="4089" y="2817"/>
                    <a:pt x="4112" y="2811"/>
                    <a:pt x="4131" y="2798"/>
                  </a:cubicBezTo>
                  <a:cubicBezTo>
                    <a:pt x="4215" y="2774"/>
                    <a:pt x="4239" y="2667"/>
                    <a:pt x="4191" y="2572"/>
                  </a:cubicBezTo>
                  <a:lnTo>
                    <a:pt x="3774" y="1786"/>
                  </a:lnTo>
                  <a:cubicBezTo>
                    <a:pt x="3655" y="1560"/>
                    <a:pt x="3417" y="1417"/>
                    <a:pt x="3155" y="1417"/>
                  </a:cubicBezTo>
                  <a:lnTo>
                    <a:pt x="2274" y="1417"/>
                  </a:lnTo>
                  <a:lnTo>
                    <a:pt x="2274" y="167"/>
                  </a:lnTo>
                  <a:cubicBezTo>
                    <a:pt x="2274" y="71"/>
                    <a:pt x="2203" y="0"/>
                    <a:pt x="21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843;p87">
              <a:extLst>
                <a:ext uri="{FF2B5EF4-FFF2-40B4-BE49-F238E27FC236}">
                  <a16:creationId xmlns:a16="http://schemas.microsoft.com/office/drawing/2014/main" id="{92244D30-BB9A-C993-C10D-B1956DA003BA}"/>
                </a:ext>
              </a:extLst>
            </p:cNvPr>
            <p:cNvSpPr/>
            <p:nvPr/>
          </p:nvSpPr>
          <p:spPr>
            <a:xfrm>
              <a:off x="8099346" y="2059973"/>
              <a:ext cx="119385" cy="56016"/>
            </a:xfrm>
            <a:custGeom>
              <a:avLst/>
              <a:gdLst/>
              <a:ahLst/>
              <a:cxnLst/>
              <a:rect l="l" t="t" r="r" b="b"/>
              <a:pathLst>
                <a:path w="3751" h="1760" extrusionOk="0">
                  <a:moveTo>
                    <a:pt x="1870" y="0"/>
                  </a:moveTo>
                  <a:cubicBezTo>
                    <a:pt x="1786" y="0"/>
                    <a:pt x="1715" y="72"/>
                    <a:pt x="1715" y="155"/>
                  </a:cubicBezTo>
                  <a:lnTo>
                    <a:pt x="1715" y="714"/>
                  </a:lnTo>
                  <a:lnTo>
                    <a:pt x="774" y="714"/>
                  </a:lnTo>
                  <a:cubicBezTo>
                    <a:pt x="584" y="714"/>
                    <a:pt x="405" y="810"/>
                    <a:pt x="310" y="988"/>
                  </a:cubicBezTo>
                  <a:lnTo>
                    <a:pt x="48" y="1512"/>
                  </a:lnTo>
                  <a:cubicBezTo>
                    <a:pt x="0" y="1584"/>
                    <a:pt x="24" y="1691"/>
                    <a:pt x="120" y="1738"/>
                  </a:cubicBezTo>
                  <a:cubicBezTo>
                    <a:pt x="141" y="1753"/>
                    <a:pt x="167" y="1760"/>
                    <a:pt x="192" y="1760"/>
                  </a:cubicBezTo>
                  <a:cubicBezTo>
                    <a:pt x="251" y="1760"/>
                    <a:pt x="313" y="1725"/>
                    <a:pt x="346" y="1667"/>
                  </a:cubicBezTo>
                  <a:lnTo>
                    <a:pt x="608" y="1143"/>
                  </a:lnTo>
                  <a:cubicBezTo>
                    <a:pt x="643" y="1084"/>
                    <a:pt x="715" y="1036"/>
                    <a:pt x="774" y="1036"/>
                  </a:cubicBezTo>
                  <a:lnTo>
                    <a:pt x="2977" y="1036"/>
                  </a:lnTo>
                  <a:cubicBezTo>
                    <a:pt x="3048" y="1036"/>
                    <a:pt x="3108" y="1084"/>
                    <a:pt x="3144" y="1143"/>
                  </a:cubicBezTo>
                  <a:lnTo>
                    <a:pt x="3406" y="1667"/>
                  </a:lnTo>
                  <a:cubicBezTo>
                    <a:pt x="3441" y="1727"/>
                    <a:pt x="3501" y="1750"/>
                    <a:pt x="3560" y="1750"/>
                  </a:cubicBezTo>
                  <a:cubicBezTo>
                    <a:pt x="3584" y="1750"/>
                    <a:pt x="3620" y="1750"/>
                    <a:pt x="3632" y="1738"/>
                  </a:cubicBezTo>
                  <a:cubicBezTo>
                    <a:pt x="3715" y="1691"/>
                    <a:pt x="3751" y="1584"/>
                    <a:pt x="3703" y="1512"/>
                  </a:cubicBezTo>
                  <a:lnTo>
                    <a:pt x="3441" y="988"/>
                  </a:lnTo>
                  <a:cubicBezTo>
                    <a:pt x="3346" y="810"/>
                    <a:pt x="3168" y="714"/>
                    <a:pt x="2977" y="714"/>
                  </a:cubicBezTo>
                  <a:lnTo>
                    <a:pt x="2036" y="714"/>
                  </a:lnTo>
                  <a:lnTo>
                    <a:pt x="2036" y="155"/>
                  </a:lnTo>
                  <a:cubicBezTo>
                    <a:pt x="2036" y="72"/>
                    <a:pt x="1965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844;p87">
              <a:extLst>
                <a:ext uri="{FF2B5EF4-FFF2-40B4-BE49-F238E27FC236}">
                  <a16:creationId xmlns:a16="http://schemas.microsoft.com/office/drawing/2014/main" id="{A5335B35-6D26-B9E9-B06D-7155521D58C8}"/>
                </a:ext>
              </a:extLst>
            </p:cNvPr>
            <p:cNvSpPr/>
            <p:nvPr/>
          </p:nvSpPr>
          <p:spPr>
            <a:xfrm>
              <a:off x="8170194" y="2189925"/>
              <a:ext cx="135331" cy="89849"/>
            </a:xfrm>
            <a:custGeom>
              <a:avLst/>
              <a:gdLst/>
              <a:ahLst/>
              <a:cxnLst/>
              <a:rect l="l" t="t" r="r" b="b"/>
              <a:pathLst>
                <a:path w="4252" h="2823" extrusionOk="0">
                  <a:moveTo>
                    <a:pt x="2132" y="1"/>
                  </a:moveTo>
                  <a:cubicBezTo>
                    <a:pt x="2049" y="1"/>
                    <a:pt x="1965" y="84"/>
                    <a:pt x="1965" y="168"/>
                  </a:cubicBezTo>
                  <a:lnTo>
                    <a:pt x="1965" y="1418"/>
                  </a:lnTo>
                  <a:lnTo>
                    <a:pt x="1096" y="1418"/>
                  </a:lnTo>
                  <a:cubicBezTo>
                    <a:pt x="834" y="1418"/>
                    <a:pt x="596" y="1573"/>
                    <a:pt x="465" y="1787"/>
                  </a:cubicBezTo>
                  <a:lnTo>
                    <a:pt x="49" y="2585"/>
                  </a:lnTo>
                  <a:cubicBezTo>
                    <a:pt x="1" y="2656"/>
                    <a:pt x="37" y="2763"/>
                    <a:pt x="120" y="2799"/>
                  </a:cubicBezTo>
                  <a:cubicBezTo>
                    <a:pt x="148" y="2815"/>
                    <a:pt x="177" y="2823"/>
                    <a:pt x="205" y="2823"/>
                  </a:cubicBezTo>
                  <a:cubicBezTo>
                    <a:pt x="262" y="2823"/>
                    <a:pt x="314" y="2791"/>
                    <a:pt x="346" y="2727"/>
                  </a:cubicBezTo>
                  <a:lnTo>
                    <a:pt x="763" y="1942"/>
                  </a:lnTo>
                  <a:cubicBezTo>
                    <a:pt x="822" y="1823"/>
                    <a:pt x="953" y="1751"/>
                    <a:pt x="1096" y="1751"/>
                  </a:cubicBezTo>
                  <a:lnTo>
                    <a:pt x="3180" y="1751"/>
                  </a:lnTo>
                  <a:cubicBezTo>
                    <a:pt x="3311" y="1751"/>
                    <a:pt x="3430" y="1823"/>
                    <a:pt x="3501" y="1942"/>
                  </a:cubicBezTo>
                  <a:lnTo>
                    <a:pt x="3918" y="2716"/>
                  </a:lnTo>
                  <a:cubicBezTo>
                    <a:pt x="3954" y="2775"/>
                    <a:pt x="4013" y="2799"/>
                    <a:pt x="4073" y="2799"/>
                  </a:cubicBezTo>
                  <a:cubicBezTo>
                    <a:pt x="4097" y="2799"/>
                    <a:pt x="4132" y="2799"/>
                    <a:pt x="4144" y="2787"/>
                  </a:cubicBezTo>
                  <a:cubicBezTo>
                    <a:pt x="4216" y="2763"/>
                    <a:pt x="4251" y="2656"/>
                    <a:pt x="4204" y="2561"/>
                  </a:cubicBezTo>
                  <a:lnTo>
                    <a:pt x="3787" y="1787"/>
                  </a:lnTo>
                  <a:cubicBezTo>
                    <a:pt x="3668" y="1573"/>
                    <a:pt x="3430" y="1418"/>
                    <a:pt x="3180" y="1418"/>
                  </a:cubicBezTo>
                  <a:lnTo>
                    <a:pt x="2299" y="1418"/>
                  </a:lnTo>
                  <a:lnTo>
                    <a:pt x="2299" y="168"/>
                  </a:lnTo>
                  <a:cubicBezTo>
                    <a:pt x="2299" y="84"/>
                    <a:pt x="2227" y="1"/>
                    <a:pt x="21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9705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7CAF799B-ADD4-197A-5168-3A1168B6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4F2799E4-E469-8AFB-97EC-36E44B1AC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Cilj i fokus analize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CF38A817-09EB-46B1-1F50-220D3A77EA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332220" cy="304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Cilj:</a:t>
            </a:r>
            <a:r>
              <a:rPr lang="hr-HR" dirty="0"/>
              <a:t> Analizirati ponašanje napada kroz sve faze (</a:t>
            </a:r>
            <a:r>
              <a:rPr lang="hr-HR" dirty="0" err="1"/>
              <a:t>Baseline</a:t>
            </a:r>
            <a:r>
              <a:rPr lang="hr-HR" dirty="0"/>
              <a:t> → </a:t>
            </a:r>
            <a:r>
              <a:rPr lang="hr-HR" dirty="0" err="1"/>
              <a:t>Phase</a:t>
            </a:r>
            <a:r>
              <a:rPr lang="hr-HR" dirty="0"/>
              <a:t> 1 → </a:t>
            </a:r>
            <a:r>
              <a:rPr lang="hr-HR" dirty="0" err="1"/>
              <a:t>Phase</a:t>
            </a:r>
            <a:r>
              <a:rPr lang="hr-HR" dirty="0"/>
              <a:t> 2)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pl-PL" b="1" dirty="0"/>
              <a:t>Fokus:</a:t>
            </a:r>
            <a:r>
              <a:rPr lang="pl-PL" dirty="0"/>
              <a:t> Korelacija host, mrežnih i SIEM podataka</a:t>
            </a:r>
            <a:endParaRPr lang="hr-HR" b="1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Pristup:</a:t>
            </a:r>
            <a:r>
              <a:rPr lang="hr-HR" dirty="0"/>
              <a:t> </a:t>
            </a:r>
            <a:r>
              <a:rPr lang="hr-HR" dirty="0" err="1"/>
              <a:t>Threat</a:t>
            </a:r>
            <a:r>
              <a:rPr lang="hr-HR" dirty="0"/>
              <a:t> </a:t>
            </a:r>
            <a:r>
              <a:rPr lang="hr-HR" dirty="0" err="1"/>
              <a:t>hunting</a:t>
            </a:r>
            <a:r>
              <a:rPr lang="hr-HR" dirty="0"/>
              <a:t> temeljen na stvarnim artefaktima, a ne samo </a:t>
            </a:r>
            <a:r>
              <a:rPr lang="hr-HR" dirty="0" err="1"/>
              <a:t>alertima</a:t>
            </a:r>
            <a:endParaRPr lang="hr-HR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Ishod:</a:t>
            </a:r>
            <a:r>
              <a:rPr lang="hr-HR" dirty="0"/>
              <a:t> Procjena učinkovitosti detekcije, vidljivosti i </a:t>
            </a:r>
            <a:r>
              <a:rPr lang="hr-HR" dirty="0" err="1"/>
              <a:t>hardening</a:t>
            </a:r>
            <a:r>
              <a:rPr lang="hr-HR" dirty="0"/>
              <a:t> mjera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629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5F726A13-22F4-C6BC-7BAA-79903F0B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3EE46707-D469-E7BD-C8CA-9673D8B8C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 err="1"/>
              <a:t>Baseline</a:t>
            </a:r>
            <a:r>
              <a:rPr lang="hr-HR" dirty="0"/>
              <a:t> kao temelj analize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F6D4E152-CD57-1730-0C4D-6E37AC6C1D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20046" y="1249439"/>
            <a:ext cx="5324687" cy="3449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b="1" dirty="0" err="1"/>
              <a:t>Baseline</a:t>
            </a:r>
            <a:r>
              <a:rPr lang="hr-HR" b="1" dirty="0"/>
              <a:t> = referentna točka za </a:t>
            </a:r>
            <a:r>
              <a:rPr lang="hr-HR" b="1" dirty="0" err="1"/>
              <a:t>threat</a:t>
            </a:r>
            <a:r>
              <a:rPr lang="hr-HR" b="1" dirty="0"/>
              <a:t> </a:t>
            </a:r>
            <a:r>
              <a:rPr lang="hr-HR" b="1" dirty="0" err="1"/>
              <a:t>hunting</a:t>
            </a:r>
            <a:endParaRPr lang="hr-HR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/>
              <a:t>Definira normalno ponašanje sustava i korisnika</a:t>
            </a:r>
          </a:p>
          <a:p>
            <a:pPr marL="4254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/>
              <a:t>Omogućuje razlikovanje:</a:t>
            </a:r>
            <a:br>
              <a:rPr lang="hr-HR" dirty="0"/>
            </a:br>
            <a:r>
              <a:rPr lang="hr-HR" dirty="0"/>
              <a:t>                                legitimne aktivnosti</a:t>
            </a:r>
            <a:br>
              <a:rPr lang="hr-HR" dirty="0"/>
            </a:br>
            <a:r>
              <a:rPr lang="hr-HR" dirty="0"/>
              <a:t>                                pozadinske buke</a:t>
            </a:r>
            <a:br>
              <a:rPr lang="hr-HR" dirty="0"/>
            </a:br>
            <a:r>
              <a:rPr lang="hr-HR" dirty="0"/>
              <a:t>                                stvarnih napada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/>
              <a:t>Ključan za pouzdanu interpretaciju </a:t>
            </a:r>
            <a:r>
              <a:rPr lang="hr-HR" dirty="0" err="1"/>
              <a:t>alerta</a:t>
            </a:r>
            <a:r>
              <a:rPr lang="hr-HR" dirty="0"/>
              <a:t> i logova</a:t>
            </a:r>
            <a:endParaRPr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AECC3D9-6E39-565E-37C3-4C07D7C6C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505" y="3616349"/>
            <a:ext cx="4692455" cy="142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0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7CC2D6B4-4BE2-7597-6717-0FE091BA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6267A557-9B99-152E-D609-C698366547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Što je definirano kao </a:t>
            </a:r>
            <a:r>
              <a:rPr lang="hr-HR" dirty="0" err="1"/>
              <a:t>baseline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D475BB76-4CC6-A9F0-39C7-9FEAD3A4B0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332220" cy="304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Linux: </a:t>
            </a:r>
            <a:r>
              <a:rPr lang="hr-HR" dirty="0"/>
              <a:t>legitimni SSH logini i uobičajeno </a:t>
            </a:r>
            <a:r>
              <a:rPr lang="hr-HR" dirty="0" err="1"/>
              <a:t>sudo</a:t>
            </a:r>
            <a:r>
              <a:rPr lang="hr-HR" dirty="0"/>
              <a:t> korištenje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Windows: </a:t>
            </a:r>
            <a:r>
              <a:rPr lang="hr-HR" dirty="0"/>
              <a:t>normalne prijave, procesi i RDP aktivnosti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Mreža (</a:t>
            </a:r>
            <a:r>
              <a:rPr lang="hr-HR" b="1" dirty="0" err="1"/>
              <a:t>pfSense</a:t>
            </a:r>
            <a:r>
              <a:rPr lang="hr-HR" b="1" dirty="0"/>
              <a:t>): </a:t>
            </a:r>
            <a:r>
              <a:rPr lang="hr-HR" dirty="0"/>
              <a:t>očekivani promet (HTTPS, DNS, NTP)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/>
              <a:t>SIEM (</a:t>
            </a:r>
            <a:r>
              <a:rPr lang="hr-HR" b="1" dirty="0" err="1"/>
              <a:t>Wazuh</a:t>
            </a:r>
            <a:r>
              <a:rPr lang="hr-HR" b="1" dirty="0"/>
              <a:t>): </a:t>
            </a:r>
            <a:r>
              <a:rPr lang="hr-HR" dirty="0"/>
              <a:t>logovi sustava bez kritičnih upozorenja</a:t>
            </a:r>
            <a:endParaRPr dirty="0"/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0DE03CAA-0E78-407B-CB61-BE63E791D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981" y="3555738"/>
            <a:ext cx="6537439" cy="114273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EAD921-4EED-2551-607D-4769E3A72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6929" y="1158878"/>
            <a:ext cx="3371741" cy="235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6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5A89E2D2-084F-D9FF-0368-6AA98893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520F5FDE-B4B9-7935-A95C-6F86EF2C3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Faza 1: Analiza napada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5D642E82-22AB-D518-2763-2C81140931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332220" cy="304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Pojava </a:t>
            </a:r>
            <a:r>
              <a:rPr lang="hr-HR" b="1" dirty="0"/>
              <a:t>uspješnog SSH pristupa </a:t>
            </a:r>
            <a:r>
              <a:rPr lang="hr-HR" dirty="0"/>
              <a:t>s neuobičajenog izvora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b="1" dirty="0" err="1"/>
              <a:t>Sudo</a:t>
            </a:r>
            <a:r>
              <a:rPr lang="hr-HR" b="1" dirty="0"/>
              <a:t> eskalacija bez </a:t>
            </a:r>
            <a:r>
              <a:rPr lang="hr-HR" dirty="0"/>
              <a:t>lozinke (NOPASSWD)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Pristup osjetljivim datotekama (/</a:t>
            </a:r>
            <a:r>
              <a:rPr lang="hr-HR" dirty="0" err="1"/>
              <a:t>etc</a:t>
            </a:r>
            <a:r>
              <a:rPr lang="hr-HR" dirty="0"/>
              <a:t>/</a:t>
            </a:r>
            <a:r>
              <a:rPr lang="hr-HR" dirty="0" err="1"/>
              <a:t>shadow</a:t>
            </a:r>
            <a:r>
              <a:rPr lang="hr-HR" dirty="0"/>
              <a:t>)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Aktivnosti koje odstupaju od definiranog </a:t>
            </a:r>
            <a:r>
              <a:rPr lang="hr-HR" dirty="0" err="1"/>
              <a:t>baselinea</a:t>
            </a:r>
            <a:endParaRPr dirty="0"/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E0EF8A55-DC7E-CFC8-D3F5-910E2E75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71" y="3731704"/>
            <a:ext cx="7717501" cy="966771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D7D6CC4-432F-E3FE-FE0B-74FDB090D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850" y="1183923"/>
            <a:ext cx="2426510" cy="245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0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1154B144-EEA0-E6C4-7271-207F87675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CD86FAFC-7EC1-0A51-D4D1-EE06AE4CE6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Faza 1: Analiza napada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5B93A949-0690-E5EE-D791-8CE71ABF196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332220" cy="304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 err="1"/>
              <a:t>Autentikacija</a:t>
            </a:r>
            <a:r>
              <a:rPr lang="hr-HR" dirty="0"/>
              <a:t> na Windows s Linux </a:t>
            </a:r>
            <a:r>
              <a:rPr lang="hr-HR" dirty="0" err="1"/>
              <a:t>kredencijalima</a:t>
            </a:r>
            <a:endParaRPr lang="hr-HR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Višestruki </a:t>
            </a:r>
            <a:r>
              <a:rPr lang="hr-HR" dirty="0" err="1"/>
              <a:t>failed</a:t>
            </a:r>
            <a:r>
              <a:rPr lang="hr-HR" dirty="0"/>
              <a:t> </a:t>
            </a:r>
            <a:r>
              <a:rPr lang="hr-HR" dirty="0" err="1"/>
              <a:t>logoni</a:t>
            </a:r>
            <a:r>
              <a:rPr lang="hr-HR" dirty="0"/>
              <a:t> → uspješan </a:t>
            </a:r>
            <a:r>
              <a:rPr lang="hr-HR" dirty="0" err="1"/>
              <a:t>logon</a:t>
            </a:r>
            <a:endParaRPr lang="hr-HR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Service </a:t>
            </a:r>
            <a:r>
              <a:rPr lang="hr-HR" dirty="0" err="1"/>
              <a:t>creation</a:t>
            </a:r>
            <a:r>
              <a:rPr lang="hr-HR" dirty="0"/>
              <a:t> kao </a:t>
            </a:r>
            <a:r>
              <a:rPr lang="hr-HR" dirty="0" err="1"/>
              <a:t>persistence</a:t>
            </a:r>
            <a:r>
              <a:rPr lang="hr-HR" dirty="0"/>
              <a:t> indikator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Korelacija Linux → Windows → SIEM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6F50B8-6965-CBE0-3239-29C3D8CBE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14" y="1374850"/>
            <a:ext cx="3675661" cy="285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9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EBBE7C7F-A63A-93C2-9A78-9C938B55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EC422E5A-5295-DB8E-24F5-B6237EA57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Faza 2: Analiza nakon </a:t>
            </a:r>
            <a:r>
              <a:rPr lang="hr-HR" dirty="0" err="1"/>
              <a:t>hardeninga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3A72E833-2C64-FF80-AEA3-4F3BCD897C5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5"/>
            <a:ext cx="3583765" cy="21898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Neuspjeli SSH pokušaji prema Linux </a:t>
            </a:r>
            <a:r>
              <a:rPr lang="hr-HR" dirty="0" err="1"/>
              <a:t>hostu</a:t>
            </a:r>
            <a:endParaRPr lang="hr-HR" dirty="0"/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Onemogućena </a:t>
            </a:r>
            <a:r>
              <a:rPr lang="hr-HR" dirty="0" err="1"/>
              <a:t>sudo</a:t>
            </a:r>
            <a:r>
              <a:rPr lang="hr-HR" dirty="0"/>
              <a:t> eskalacija privilegija</a:t>
            </a: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F2DD4CB4-9E0D-DD4A-C848-21F901A69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69" y="3692334"/>
            <a:ext cx="7178662" cy="1104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DD80D8-0655-86E5-4BC5-DD4D12E80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670" y="2410156"/>
            <a:ext cx="7178662" cy="1282178"/>
          </a:xfrm>
          <a:prstGeom prst="rect">
            <a:avLst/>
          </a:prstGeom>
        </p:spPr>
      </p:pic>
      <p:sp>
        <p:nvSpPr>
          <p:cNvPr id="6" name="Google Shape;3602;p45">
            <a:extLst>
              <a:ext uri="{FF2B5EF4-FFF2-40B4-BE49-F238E27FC236}">
                <a16:creationId xmlns:a16="http://schemas.microsoft.com/office/drawing/2014/main" id="{CE04F7F9-BA8B-94DE-4D84-50AC4D8AE8C3}"/>
              </a:ext>
            </a:extLst>
          </p:cNvPr>
          <p:cNvSpPr txBox="1">
            <a:spLocks/>
          </p:cNvSpPr>
          <p:nvPr/>
        </p:nvSpPr>
        <p:spPr>
          <a:xfrm>
            <a:off x="4293739" y="1183925"/>
            <a:ext cx="4366785" cy="218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None/>
              <a:defRPr sz="1400" b="0" i="0" u="none" strike="noStrike" cap="non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Nema pristupa osjetljivim datotekama (/</a:t>
            </a:r>
            <a:r>
              <a:rPr lang="hr-HR" dirty="0" err="1"/>
              <a:t>etc</a:t>
            </a:r>
            <a:r>
              <a:rPr lang="hr-HR" dirty="0"/>
              <a:t>/</a:t>
            </a:r>
            <a:r>
              <a:rPr lang="hr-HR" dirty="0" err="1"/>
              <a:t>shadow</a:t>
            </a:r>
            <a:r>
              <a:rPr lang="hr-HR" dirty="0"/>
              <a:t>)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dirty="0"/>
              <a:t>Napad zaustavljen prije lateralnog kretanja</a:t>
            </a:r>
          </a:p>
        </p:txBody>
      </p:sp>
    </p:spTree>
    <p:extLst>
      <p:ext uri="{BB962C8B-B14F-4D97-AF65-F5344CB8AC3E}">
        <p14:creationId xmlns:p14="http://schemas.microsoft.com/office/powerpoint/2010/main" val="3895119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6">
          <a:extLst>
            <a:ext uri="{FF2B5EF4-FFF2-40B4-BE49-F238E27FC236}">
              <a16:creationId xmlns:a16="http://schemas.microsoft.com/office/drawing/2014/main" id="{3FE48B54-9EE5-0C79-9DBA-494A4076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p50">
            <a:extLst>
              <a:ext uri="{FF2B5EF4-FFF2-40B4-BE49-F238E27FC236}">
                <a16:creationId xmlns:a16="http://schemas.microsoft.com/office/drawing/2014/main" id="{18BD42CF-B1F0-2A5F-1F46-3F59A3209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Usporedba faza 1 i 2</a:t>
            </a:r>
            <a:endParaRPr dirty="0"/>
          </a:p>
        </p:txBody>
      </p:sp>
      <p:graphicFrame>
        <p:nvGraphicFramePr>
          <p:cNvPr id="3878" name="Google Shape;3878;p50">
            <a:extLst>
              <a:ext uri="{FF2B5EF4-FFF2-40B4-BE49-F238E27FC236}">
                <a16:creationId xmlns:a16="http://schemas.microsoft.com/office/drawing/2014/main" id="{4CBB4292-0C2A-2C44-46AC-074FA1585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764074"/>
              </p:ext>
            </p:extLst>
          </p:nvPr>
        </p:nvGraphicFramePr>
        <p:xfrm>
          <a:off x="713400" y="1383088"/>
          <a:ext cx="7905667" cy="3639984"/>
        </p:xfrm>
        <a:graphic>
          <a:graphicData uri="http://schemas.openxmlformats.org/drawingml/2006/table">
            <a:tbl>
              <a:tblPr>
                <a:noFill/>
                <a:tableStyleId>{7674B70B-DFDF-498B-A855-13788AC6C060}</a:tableStyleId>
              </a:tblPr>
              <a:tblGrid>
                <a:gridCol w="3099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2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9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dk1"/>
                          </a:solidFill>
                          <a:latin typeface="Alumni Sans Pinstripe"/>
                          <a:ea typeface="Alumni Sans Pinstripe"/>
                          <a:cs typeface="Alumni Sans Pinstripe"/>
                          <a:sym typeface="Alumni Sans Pinstripe"/>
                        </a:rPr>
                        <a:t>Sigurnosni element</a:t>
                      </a:r>
                      <a:endParaRPr b="1" dirty="0">
                        <a:solidFill>
                          <a:schemeClr val="dk1"/>
                        </a:solidFill>
                        <a:latin typeface="Alumni Sans Pinstripe"/>
                        <a:ea typeface="Alumni Sans Pinstripe"/>
                        <a:cs typeface="Alumni Sans Pinstripe"/>
                        <a:sym typeface="Alumni Sans Pinstrip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dk1"/>
                          </a:solidFill>
                          <a:latin typeface="Alumni Sans Pinstripe"/>
                          <a:ea typeface="Alumni Sans Pinstripe"/>
                          <a:cs typeface="Alumni Sans Pinstripe"/>
                          <a:sym typeface="Alumni Sans Pinstripe"/>
                        </a:rPr>
                        <a:t>Faza 1 </a:t>
                      </a:r>
                      <a:endParaRPr b="1" dirty="0">
                        <a:solidFill>
                          <a:schemeClr val="dk1"/>
                        </a:solidFill>
                        <a:latin typeface="Alumni Sans Pinstripe"/>
                        <a:ea typeface="Alumni Sans Pinstripe"/>
                        <a:cs typeface="Alumni Sans Pinstripe"/>
                        <a:sym typeface="Alumni Sans Pinstrip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2400" b="1" dirty="0">
                          <a:solidFill>
                            <a:schemeClr val="dk1"/>
                          </a:solidFill>
                          <a:latin typeface="Alumni Sans Pinstripe"/>
                          <a:ea typeface="Alumni Sans Pinstripe"/>
                          <a:cs typeface="Alumni Sans Pinstripe"/>
                          <a:sym typeface="Alumni Sans Pinstripe"/>
                        </a:rPr>
                        <a:t>Faza 2</a:t>
                      </a:r>
                      <a:endParaRPr b="1" dirty="0">
                        <a:solidFill>
                          <a:schemeClr val="dk1"/>
                        </a:solidFill>
                        <a:latin typeface="Alumni Sans Pinstripe"/>
                        <a:ea typeface="Alumni Sans Pinstripe"/>
                        <a:cs typeface="Alumni Sans Pinstripe"/>
                        <a:sym typeface="Alumni Sans Pinstrip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SSH pristup</a:t>
                      </a:r>
                      <a:endParaRPr sz="1400" dirty="0">
                        <a:solidFill>
                          <a:schemeClr val="tx1"/>
                        </a:solidFill>
                        <a:latin typeface="Advent Pro"/>
                        <a:ea typeface="Advent Pro"/>
                        <a:cs typeface="Advent Pro"/>
                        <a:sym typeface="Advent Pr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Uspješan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Neuspješan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Privilege</a:t>
                      </a:r>
                      <a:r>
                        <a:rPr lang="hr-HR" sz="1400" dirty="0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 </a:t>
                      </a: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escalation</a:t>
                      </a:r>
                      <a:endParaRPr sz="1400" dirty="0">
                        <a:solidFill>
                          <a:schemeClr val="tx1"/>
                        </a:solidFill>
                        <a:latin typeface="Advent Pro"/>
                        <a:ea typeface="Advent Pro"/>
                        <a:cs typeface="Advent Pro"/>
                        <a:sym typeface="Advent Pr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Dozvoljena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Blokirana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Pristup /</a:t>
                      </a: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etc</a:t>
                      </a:r>
                      <a:r>
                        <a:rPr lang="hr-HR" sz="1400" dirty="0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/</a:t>
                      </a: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shadow</a:t>
                      </a:r>
                      <a:endParaRPr sz="1400" dirty="0">
                        <a:solidFill>
                          <a:schemeClr val="tx1"/>
                        </a:solidFill>
                        <a:latin typeface="Advent Pro"/>
                        <a:ea typeface="Advent Pro"/>
                        <a:cs typeface="Advent Pro"/>
                        <a:sym typeface="Advent Pr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Ostvaren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Onemogućen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Lateral</a:t>
                      </a:r>
                      <a:r>
                        <a:rPr lang="hr-HR" sz="1400" dirty="0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 </a:t>
                      </a: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movement</a:t>
                      </a:r>
                      <a:endParaRPr sz="1400" dirty="0">
                        <a:solidFill>
                          <a:schemeClr val="tx1"/>
                        </a:solidFill>
                        <a:latin typeface="Advent Pro"/>
                        <a:ea typeface="Advent Pro"/>
                        <a:cs typeface="Advent Pro"/>
                        <a:sym typeface="Advent Pr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Uspješan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Nije moguć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072117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Windows </a:t>
                      </a: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kompromizacija</a:t>
                      </a:r>
                      <a:endParaRPr sz="1400" dirty="0">
                        <a:solidFill>
                          <a:schemeClr val="tx1"/>
                        </a:solidFill>
                        <a:latin typeface="Advent Pro"/>
                        <a:ea typeface="Advent Pro"/>
                        <a:cs typeface="Advent Pro"/>
                        <a:sym typeface="Advent Pr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Da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Ne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546757"/>
                  </a:ext>
                </a:extLst>
              </a:tr>
              <a:tr h="5152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 err="1">
                          <a:solidFill>
                            <a:schemeClr val="tx1"/>
                          </a:solidFill>
                          <a:latin typeface="Advent Pro"/>
                          <a:ea typeface="Advent Pro"/>
                          <a:cs typeface="Advent Pro"/>
                          <a:sym typeface="Advent Pro"/>
                        </a:rPr>
                        <a:t>Persistence</a:t>
                      </a:r>
                      <a:endParaRPr sz="1400" dirty="0">
                        <a:solidFill>
                          <a:schemeClr val="tx1"/>
                        </a:solidFill>
                        <a:latin typeface="Advent Pro"/>
                        <a:ea typeface="Advent Pro"/>
                        <a:cs typeface="Advent Pro"/>
                        <a:sym typeface="Advent Pro"/>
                      </a:endParaRPr>
                    </a:p>
                  </a:txBody>
                  <a:tcPr marL="182875" marR="18287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sz="1400" dirty="0">
                          <a:solidFill>
                            <a:schemeClr val="tx1"/>
                          </a:solidFill>
                        </a:rPr>
                        <a:t>Uspostavljena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Spriječena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683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121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>
          <a:extLst>
            <a:ext uri="{FF2B5EF4-FFF2-40B4-BE49-F238E27FC236}">
              <a16:creationId xmlns:a16="http://schemas.microsoft.com/office/drawing/2014/main" id="{481730CE-5779-62E1-CEE9-B2252901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>
            <a:extLst>
              <a:ext uri="{FF2B5EF4-FFF2-40B4-BE49-F238E27FC236}">
                <a16:creationId xmlns:a16="http://schemas.microsoft.com/office/drawing/2014/main" id="{DCC247C6-8767-9348-C17E-1FD3E3C59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r-HR" dirty="0"/>
              <a:t>Zaključak</a:t>
            </a:r>
            <a:endParaRPr lang="en-US" dirty="0"/>
          </a:p>
        </p:txBody>
      </p:sp>
      <p:sp>
        <p:nvSpPr>
          <p:cNvPr id="3602" name="Google Shape;3602;p45">
            <a:extLst>
              <a:ext uri="{FF2B5EF4-FFF2-40B4-BE49-F238E27FC236}">
                <a16:creationId xmlns:a16="http://schemas.microsoft.com/office/drawing/2014/main" id="{EB1D39F9-E160-1711-576E-94A52B164D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30580" y="1183924"/>
            <a:ext cx="6332220" cy="304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sz="1600" dirty="0" err="1"/>
              <a:t>Baseline</a:t>
            </a:r>
            <a:r>
              <a:rPr lang="hr-HR" sz="1600" dirty="0"/>
              <a:t> je omogućio pouzdanu analizu i usporedbu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Faza 1 je potvrdila realnu izloženost napadima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Faza 2 je dokazala učinkovitost </a:t>
            </a:r>
            <a:r>
              <a:rPr lang="hr-HR" sz="1600" dirty="0" err="1"/>
              <a:t>hardening</a:t>
            </a:r>
            <a:r>
              <a:rPr lang="hr-HR" sz="1600" dirty="0"/>
              <a:t> mjera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Napadni putovi su eliminirani, ne samo detektirani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hr-HR" sz="1600" dirty="0"/>
              <a:t>SIEM je pružio potvrdu, ne lažan osjećaj sigurnosti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44342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3">
          <a:extLst>
            <a:ext uri="{FF2B5EF4-FFF2-40B4-BE49-F238E27FC236}">
              <a16:creationId xmlns:a16="http://schemas.microsoft.com/office/drawing/2014/main" id="{6F8BA927-24F9-9671-4EE6-4C42EEB0F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4" name="Google Shape;4994;p72">
            <a:extLst>
              <a:ext uri="{FF2B5EF4-FFF2-40B4-BE49-F238E27FC236}">
                <a16:creationId xmlns:a16="http://schemas.microsoft.com/office/drawing/2014/main" id="{15BAFA2E-9CC8-65A3-CC94-F10167247223}"/>
              </a:ext>
            </a:extLst>
          </p:cNvPr>
          <p:cNvSpPr/>
          <p:nvPr/>
        </p:nvSpPr>
        <p:spPr>
          <a:xfrm>
            <a:off x="2863313" y="-602775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5" name="Google Shape;4995;p72">
            <a:extLst>
              <a:ext uri="{FF2B5EF4-FFF2-40B4-BE49-F238E27FC236}">
                <a16:creationId xmlns:a16="http://schemas.microsoft.com/office/drawing/2014/main" id="{5838D426-C9BA-4394-97A8-4AADF0703447}"/>
              </a:ext>
            </a:extLst>
          </p:cNvPr>
          <p:cNvGrpSpPr/>
          <p:nvPr/>
        </p:nvGrpSpPr>
        <p:grpSpPr>
          <a:xfrm>
            <a:off x="1647529" y="2125441"/>
            <a:ext cx="2227588" cy="726522"/>
            <a:chOff x="3620725" y="372750"/>
            <a:chExt cx="1039375" cy="338989"/>
          </a:xfrm>
        </p:grpSpPr>
        <p:sp>
          <p:nvSpPr>
            <p:cNvPr id="4996" name="Google Shape;4996;p72">
              <a:extLst>
                <a:ext uri="{FF2B5EF4-FFF2-40B4-BE49-F238E27FC236}">
                  <a16:creationId xmlns:a16="http://schemas.microsoft.com/office/drawing/2014/main" id="{4726F5E5-3C63-0D85-E6E5-FDB703757D82}"/>
                </a:ext>
              </a:extLst>
            </p:cNvPr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72">
              <a:extLst>
                <a:ext uri="{FF2B5EF4-FFF2-40B4-BE49-F238E27FC236}">
                  <a16:creationId xmlns:a16="http://schemas.microsoft.com/office/drawing/2014/main" id="{C60AA805-8375-5B88-7219-B896B6C6B8FB}"/>
                </a:ext>
              </a:extLst>
            </p:cNvPr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72">
              <a:extLst>
                <a:ext uri="{FF2B5EF4-FFF2-40B4-BE49-F238E27FC236}">
                  <a16:creationId xmlns:a16="http://schemas.microsoft.com/office/drawing/2014/main" id="{5057E085-F71D-C01B-D1BA-8F3C05675BBF}"/>
                </a:ext>
              </a:extLst>
            </p:cNvPr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72">
              <a:extLst>
                <a:ext uri="{FF2B5EF4-FFF2-40B4-BE49-F238E27FC236}">
                  <a16:creationId xmlns:a16="http://schemas.microsoft.com/office/drawing/2014/main" id="{7ACF6623-96DA-2897-3B88-889006C9CBA3}"/>
                </a:ext>
              </a:extLst>
            </p:cNvPr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72">
              <a:extLst>
                <a:ext uri="{FF2B5EF4-FFF2-40B4-BE49-F238E27FC236}">
                  <a16:creationId xmlns:a16="http://schemas.microsoft.com/office/drawing/2014/main" id="{4410E5FF-494C-A0A9-FC15-30834A1D2978}"/>
                </a:ext>
              </a:extLst>
            </p:cNvPr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72">
              <a:extLst>
                <a:ext uri="{FF2B5EF4-FFF2-40B4-BE49-F238E27FC236}">
                  <a16:creationId xmlns:a16="http://schemas.microsoft.com/office/drawing/2014/main" id="{FEF90500-4F74-6CCC-E623-EF492A5FFFD3}"/>
                </a:ext>
              </a:extLst>
            </p:cNvPr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72">
              <a:extLst>
                <a:ext uri="{FF2B5EF4-FFF2-40B4-BE49-F238E27FC236}">
                  <a16:creationId xmlns:a16="http://schemas.microsoft.com/office/drawing/2014/main" id="{32809380-7E14-C24A-DF6F-CE82CE33740F}"/>
                </a:ext>
              </a:extLst>
            </p:cNvPr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72">
              <a:extLst>
                <a:ext uri="{FF2B5EF4-FFF2-40B4-BE49-F238E27FC236}">
                  <a16:creationId xmlns:a16="http://schemas.microsoft.com/office/drawing/2014/main" id="{AAB35B18-3E68-488F-4F8C-89400D1F0592}"/>
                </a:ext>
              </a:extLst>
            </p:cNvPr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72">
              <a:extLst>
                <a:ext uri="{FF2B5EF4-FFF2-40B4-BE49-F238E27FC236}">
                  <a16:creationId xmlns:a16="http://schemas.microsoft.com/office/drawing/2014/main" id="{098326D4-0DCD-D01A-6A7C-55DBE6794DCE}"/>
                </a:ext>
              </a:extLst>
            </p:cNvPr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72">
              <a:extLst>
                <a:ext uri="{FF2B5EF4-FFF2-40B4-BE49-F238E27FC236}">
                  <a16:creationId xmlns:a16="http://schemas.microsoft.com/office/drawing/2014/main" id="{BC85C3F0-342A-A97D-1E06-FFF00EF91EE8}"/>
                </a:ext>
              </a:extLst>
            </p:cNvPr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72">
              <a:extLst>
                <a:ext uri="{FF2B5EF4-FFF2-40B4-BE49-F238E27FC236}">
                  <a16:creationId xmlns:a16="http://schemas.microsoft.com/office/drawing/2014/main" id="{082F3FF4-91E9-6965-BEB9-DAED454F1993}"/>
                </a:ext>
              </a:extLst>
            </p:cNvPr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72">
              <a:extLst>
                <a:ext uri="{FF2B5EF4-FFF2-40B4-BE49-F238E27FC236}">
                  <a16:creationId xmlns:a16="http://schemas.microsoft.com/office/drawing/2014/main" id="{C19A057C-C1FC-9E17-A721-57408F0F4FA6}"/>
                </a:ext>
              </a:extLst>
            </p:cNvPr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72">
              <a:extLst>
                <a:ext uri="{FF2B5EF4-FFF2-40B4-BE49-F238E27FC236}">
                  <a16:creationId xmlns:a16="http://schemas.microsoft.com/office/drawing/2014/main" id="{AF2E30F8-9C8D-B149-6D89-212B31EC92EB}"/>
                </a:ext>
              </a:extLst>
            </p:cNvPr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72">
              <a:extLst>
                <a:ext uri="{FF2B5EF4-FFF2-40B4-BE49-F238E27FC236}">
                  <a16:creationId xmlns:a16="http://schemas.microsoft.com/office/drawing/2014/main" id="{8EBFEF49-A9AA-85AC-2E79-ACD8D99B5DF3}"/>
                </a:ext>
              </a:extLst>
            </p:cNvPr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72">
              <a:extLst>
                <a:ext uri="{FF2B5EF4-FFF2-40B4-BE49-F238E27FC236}">
                  <a16:creationId xmlns:a16="http://schemas.microsoft.com/office/drawing/2014/main" id="{1ACD0557-B8B9-A5FC-51BD-E48A47B09642}"/>
                </a:ext>
              </a:extLst>
            </p:cNvPr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72">
              <a:extLst>
                <a:ext uri="{FF2B5EF4-FFF2-40B4-BE49-F238E27FC236}">
                  <a16:creationId xmlns:a16="http://schemas.microsoft.com/office/drawing/2014/main" id="{4FFD2FC7-8451-D308-BCFE-4FF8941AA4EF}"/>
                </a:ext>
              </a:extLst>
            </p:cNvPr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72">
              <a:extLst>
                <a:ext uri="{FF2B5EF4-FFF2-40B4-BE49-F238E27FC236}">
                  <a16:creationId xmlns:a16="http://schemas.microsoft.com/office/drawing/2014/main" id="{D68C120C-7081-1ADC-BFEE-1F43D7D956BD}"/>
                </a:ext>
              </a:extLst>
            </p:cNvPr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72">
              <a:extLst>
                <a:ext uri="{FF2B5EF4-FFF2-40B4-BE49-F238E27FC236}">
                  <a16:creationId xmlns:a16="http://schemas.microsoft.com/office/drawing/2014/main" id="{7EA8DF8E-1766-EEBE-BE91-D085AB9ECDBB}"/>
                </a:ext>
              </a:extLst>
            </p:cNvPr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72">
              <a:extLst>
                <a:ext uri="{FF2B5EF4-FFF2-40B4-BE49-F238E27FC236}">
                  <a16:creationId xmlns:a16="http://schemas.microsoft.com/office/drawing/2014/main" id="{9A121840-B077-8020-C3EB-42217EDE8712}"/>
                </a:ext>
              </a:extLst>
            </p:cNvPr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72">
              <a:extLst>
                <a:ext uri="{FF2B5EF4-FFF2-40B4-BE49-F238E27FC236}">
                  <a16:creationId xmlns:a16="http://schemas.microsoft.com/office/drawing/2014/main" id="{FB5CE752-73F4-D382-5EF0-C214EC2B69C1}"/>
                </a:ext>
              </a:extLst>
            </p:cNvPr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72">
              <a:extLst>
                <a:ext uri="{FF2B5EF4-FFF2-40B4-BE49-F238E27FC236}">
                  <a16:creationId xmlns:a16="http://schemas.microsoft.com/office/drawing/2014/main" id="{CE9F6DC3-FDB6-D570-DC5E-364E42A3D7B6}"/>
                </a:ext>
              </a:extLst>
            </p:cNvPr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72">
              <a:extLst>
                <a:ext uri="{FF2B5EF4-FFF2-40B4-BE49-F238E27FC236}">
                  <a16:creationId xmlns:a16="http://schemas.microsoft.com/office/drawing/2014/main" id="{0D1C8E80-309A-FE50-D606-9D18B02DF5EF}"/>
                </a:ext>
              </a:extLst>
            </p:cNvPr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72">
              <a:extLst>
                <a:ext uri="{FF2B5EF4-FFF2-40B4-BE49-F238E27FC236}">
                  <a16:creationId xmlns:a16="http://schemas.microsoft.com/office/drawing/2014/main" id="{D5EF3FC5-AE3E-12DA-611B-EA2DECC380CE}"/>
                </a:ext>
              </a:extLst>
            </p:cNvPr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72">
              <a:extLst>
                <a:ext uri="{FF2B5EF4-FFF2-40B4-BE49-F238E27FC236}">
                  <a16:creationId xmlns:a16="http://schemas.microsoft.com/office/drawing/2014/main" id="{9D2EF8E8-C83D-02FF-050D-FF72A61E692B}"/>
                </a:ext>
              </a:extLst>
            </p:cNvPr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72">
              <a:extLst>
                <a:ext uri="{FF2B5EF4-FFF2-40B4-BE49-F238E27FC236}">
                  <a16:creationId xmlns:a16="http://schemas.microsoft.com/office/drawing/2014/main" id="{0B662F58-FE89-9434-0B14-FCB32AFF88CD}"/>
                </a:ext>
              </a:extLst>
            </p:cNvPr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72">
              <a:extLst>
                <a:ext uri="{FF2B5EF4-FFF2-40B4-BE49-F238E27FC236}">
                  <a16:creationId xmlns:a16="http://schemas.microsoft.com/office/drawing/2014/main" id="{73EFB2B1-1EE9-A1B1-AFFF-9AA9B8EF311A}"/>
                </a:ext>
              </a:extLst>
            </p:cNvPr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72">
              <a:extLst>
                <a:ext uri="{FF2B5EF4-FFF2-40B4-BE49-F238E27FC236}">
                  <a16:creationId xmlns:a16="http://schemas.microsoft.com/office/drawing/2014/main" id="{D1B62BD4-B3E2-12B5-F301-531934D6D134}"/>
                </a:ext>
              </a:extLst>
            </p:cNvPr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72">
              <a:extLst>
                <a:ext uri="{FF2B5EF4-FFF2-40B4-BE49-F238E27FC236}">
                  <a16:creationId xmlns:a16="http://schemas.microsoft.com/office/drawing/2014/main" id="{61310F09-AE7E-1249-A8AC-C3D2232D51C0}"/>
                </a:ext>
              </a:extLst>
            </p:cNvPr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72">
              <a:extLst>
                <a:ext uri="{FF2B5EF4-FFF2-40B4-BE49-F238E27FC236}">
                  <a16:creationId xmlns:a16="http://schemas.microsoft.com/office/drawing/2014/main" id="{2BCEC14A-D360-6C76-105F-C63E4D25A258}"/>
                </a:ext>
              </a:extLst>
            </p:cNvPr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72">
              <a:extLst>
                <a:ext uri="{FF2B5EF4-FFF2-40B4-BE49-F238E27FC236}">
                  <a16:creationId xmlns:a16="http://schemas.microsoft.com/office/drawing/2014/main" id="{40741687-0878-8F86-0EB3-4E22476E3768}"/>
                </a:ext>
              </a:extLst>
            </p:cNvPr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72">
              <a:extLst>
                <a:ext uri="{FF2B5EF4-FFF2-40B4-BE49-F238E27FC236}">
                  <a16:creationId xmlns:a16="http://schemas.microsoft.com/office/drawing/2014/main" id="{7D2C1C36-9778-D4A0-6653-834A38E2A16D}"/>
                </a:ext>
              </a:extLst>
            </p:cNvPr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72">
              <a:extLst>
                <a:ext uri="{FF2B5EF4-FFF2-40B4-BE49-F238E27FC236}">
                  <a16:creationId xmlns:a16="http://schemas.microsoft.com/office/drawing/2014/main" id="{CBC5273D-1BEA-C66B-023E-49220EEA9DB8}"/>
                </a:ext>
              </a:extLst>
            </p:cNvPr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72">
              <a:extLst>
                <a:ext uri="{FF2B5EF4-FFF2-40B4-BE49-F238E27FC236}">
                  <a16:creationId xmlns:a16="http://schemas.microsoft.com/office/drawing/2014/main" id="{F71519A8-04E7-4D82-2C5D-51D722823A23}"/>
                </a:ext>
              </a:extLst>
            </p:cNvPr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72">
              <a:extLst>
                <a:ext uri="{FF2B5EF4-FFF2-40B4-BE49-F238E27FC236}">
                  <a16:creationId xmlns:a16="http://schemas.microsoft.com/office/drawing/2014/main" id="{BFA18D30-BF9A-6117-A3D6-6FA0F9CBFAC8}"/>
                </a:ext>
              </a:extLst>
            </p:cNvPr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72">
              <a:extLst>
                <a:ext uri="{FF2B5EF4-FFF2-40B4-BE49-F238E27FC236}">
                  <a16:creationId xmlns:a16="http://schemas.microsoft.com/office/drawing/2014/main" id="{711F7F27-738E-E7C9-66E1-D5F65716EDD9}"/>
                </a:ext>
              </a:extLst>
            </p:cNvPr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72">
              <a:extLst>
                <a:ext uri="{FF2B5EF4-FFF2-40B4-BE49-F238E27FC236}">
                  <a16:creationId xmlns:a16="http://schemas.microsoft.com/office/drawing/2014/main" id="{1ECDB4EE-5193-7D5B-C0CE-75593CCB8EF6}"/>
                </a:ext>
              </a:extLst>
            </p:cNvPr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72">
              <a:extLst>
                <a:ext uri="{FF2B5EF4-FFF2-40B4-BE49-F238E27FC236}">
                  <a16:creationId xmlns:a16="http://schemas.microsoft.com/office/drawing/2014/main" id="{DA3D7DDC-13B0-4340-41E1-DE71B8EF92DF}"/>
                </a:ext>
              </a:extLst>
            </p:cNvPr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3" name="Google Shape;5033;p72">
            <a:extLst>
              <a:ext uri="{FF2B5EF4-FFF2-40B4-BE49-F238E27FC236}">
                <a16:creationId xmlns:a16="http://schemas.microsoft.com/office/drawing/2014/main" id="{9429CC94-3BB3-3BFD-8B07-448245E7765D}"/>
              </a:ext>
            </a:extLst>
          </p:cNvPr>
          <p:cNvGrpSpPr/>
          <p:nvPr/>
        </p:nvGrpSpPr>
        <p:grpSpPr>
          <a:xfrm>
            <a:off x="380255" y="402716"/>
            <a:ext cx="2227589" cy="1527191"/>
            <a:chOff x="5519300" y="372750"/>
            <a:chExt cx="1039375" cy="712575"/>
          </a:xfrm>
        </p:grpSpPr>
        <p:sp>
          <p:nvSpPr>
            <p:cNvPr id="5034" name="Google Shape;5034;p72">
              <a:extLst>
                <a:ext uri="{FF2B5EF4-FFF2-40B4-BE49-F238E27FC236}">
                  <a16:creationId xmlns:a16="http://schemas.microsoft.com/office/drawing/2014/main" id="{74E27853-65F4-3BC5-CA90-F574527DE9D4}"/>
                </a:ext>
              </a:extLst>
            </p:cNvPr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72">
              <a:extLst>
                <a:ext uri="{FF2B5EF4-FFF2-40B4-BE49-F238E27FC236}">
                  <a16:creationId xmlns:a16="http://schemas.microsoft.com/office/drawing/2014/main" id="{522B0EEA-C740-E598-84FD-27CF58117C6D}"/>
                </a:ext>
              </a:extLst>
            </p:cNvPr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72">
              <a:extLst>
                <a:ext uri="{FF2B5EF4-FFF2-40B4-BE49-F238E27FC236}">
                  <a16:creationId xmlns:a16="http://schemas.microsoft.com/office/drawing/2014/main" id="{598A3239-4E0D-F3A1-1B3C-3D7E70088880}"/>
                </a:ext>
              </a:extLst>
            </p:cNvPr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72">
              <a:extLst>
                <a:ext uri="{FF2B5EF4-FFF2-40B4-BE49-F238E27FC236}">
                  <a16:creationId xmlns:a16="http://schemas.microsoft.com/office/drawing/2014/main" id="{9E91A320-C5BD-0E2D-A024-C90BC09ED8E0}"/>
                </a:ext>
              </a:extLst>
            </p:cNvPr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72">
              <a:extLst>
                <a:ext uri="{FF2B5EF4-FFF2-40B4-BE49-F238E27FC236}">
                  <a16:creationId xmlns:a16="http://schemas.microsoft.com/office/drawing/2014/main" id="{3F470810-7ABD-231A-E852-932F56142127}"/>
                </a:ext>
              </a:extLst>
            </p:cNvPr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72">
              <a:extLst>
                <a:ext uri="{FF2B5EF4-FFF2-40B4-BE49-F238E27FC236}">
                  <a16:creationId xmlns:a16="http://schemas.microsoft.com/office/drawing/2014/main" id="{18D0E25D-692D-D77D-1089-67CFB1622BCD}"/>
                </a:ext>
              </a:extLst>
            </p:cNvPr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72">
              <a:extLst>
                <a:ext uri="{FF2B5EF4-FFF2-40B4-BE49-F238E27FC236}">
                  <a16:creationId xmlns:a16="http://schemas.microsoft.com/office/drawing/2014/main" id="{3EB3BCAA-936A-D28A-E78D-443C5B3F510F}"/>
                </a:ext>
              </a:extLst>
            </p:cNvPr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72">
              <a:extLst>
                <a:ext uri="{FF2B5EF4-FFF2-40B4-BE49-F238E27FC236}">
                  <a16:creationId xmlns:a16="http://schemas.microsoft.com/office/drawing/2014/main" id="{F575CA02-8E50-9893-457C-89C4A96960F5}"/>
                </a:ext>
              </a:extLst>
            </p:cNvPr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72">
              <a:extLst>
                <a:ext uri="{FF2B5EF4-FFF2-40B4-BE49-F238E27FC236}">
                  <a16:creationId xmlns:a16="http://schemas.microsoft.com/office/drawing/2014/main" id="{01BCAC5D-846A-4366-D84F-9CA99A09B0EB}"/>
                </a:ext>
              </a:extLst>
            </p:cNvPr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72">
              <a:extLst>
                <a:ext uri="{FF2B5EF4-FFF2-40B4-BE49-F238E27FC236}">
                  <a16:creationId xmlns:a16="http://schemas.microsoft.com/office/drawing/2014/main" id="{B32BA256-3B0D-DC1B-1727-FE6AEB715300}"/>
                </a:ext>
              </a:extLst>
            </p:cNvPr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72">
              <a:extLst>
                <a:ext uri="{FF2B5EF4-FFF2-40B4-BE49-F238E27FC236}">
                  <a16:creationId xmlns:a16="http://schemas.microsoft.com/office/drawing/2014/main" id="{93F3BC02-24C4-2973-5C6C-4F0930E83A82}"/>
                </a:ext>
              </a:extLst>
            </p:cNvPr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72">
              <a:extLst>
                <a:ext uri="{FF2B5EF4-FFF2-40B4-BE49-F238E27FC236}">
                  <a16:creationId xmlns:a16="http://schemas.microsoft.com/office/drawing/2014/main" id="{5E1C0DA2-9DD4-2ED7-8353-4FA437C6F639}"/>
                </a:ext>
              </a:extLst>
            </p:cNvPr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72">
              <a:extLst>
                <a:ext uri="{FF2B5EF4-FFF2-40B4-BE49-F238E27FC236}">
                  <a16:creationId xmlns:a16="http://schemas.microsoft.com/office/drawing/2014/main" id="{02221EFF-8769-566D-25C6-4E41C1DD45CF}"/>
                </a:ext>
              </a:extLst>
            </p:cNvPr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72">
              <a:extLst>
                <a:ext uri="{FF2B5EF4-FFF2-40B4-BE49-F238E27FC236}">
                  <a16:creationId xmlns:a16="http://schemas.microsoft.com/office/drawing/2014/main" id="{88150154-59C8-CAB7-EF97-DFB26A560D41}"/>
                </a:ext>
              </a:extLst>
            </p:cNvPr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72">
              <a:extLst>
                <a:ext uri="{FF2B5EF4-FFF2-40B4-BE49-F238E27FC236}">
                  <a16:creationId xmlns:a16="http://schemas.microsoft.com/office/drawing/2014/main" id="{D6E9202B-F73B-7342-B9C1-5D49D96DF437}"/>
                </a:ext>
              </a:extLst>
            </p:cNvPr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72">
              <a:extLst>
                <a:ext uri="{FF2B5EF4-FFF2-40B4-BE49-F238E27FC236}">
                  <a16:creationId xmlns:a16="http://schemas.microsoft.com/office/drawing/2014/main" id="{C00AC5A6-A8FC-880E-D02C-5D4C61FA80EC}"/>
                </a:ext>
              </a:extLst>
            </p:cNvPr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72">
              <a:extLst>
                <a:ext uri="{FF2B5EF4-FFF2-40B4-BE49-F238E27FC236}">
                  <a16:creationId xmlns:a16="http://schemas.microsoft.com/office/drawing/2014/main" id="{EC504C27-BCC2-3C7E-6FD3-05CA0E066AE9}"/>
                </a:ext>
              </a:extLst>
            </p:cNvPr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72">
              <a:extLst>
                <a:ext uri="{FF2B5EF4-FFF2-40B4-BE49-F238E27FC236}">
                  <a16:creationId xmlns:a16="http://schemas.microsoft.com/office/drawing/2014/main" id="{44A7C06F-D277-63E1-A98C-3C0BD8A7276C}"/>
                </a:ext>
              </a:extLst>
            </p:cNvPr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72">
              <a:extLst>
                <a:ext uri="{FF2B5EF4-FFF2-40B4-BE49-F238E27FC236}">
                  <a16:creationId xmlns:a16="http://schemas.microsoft.com/office/drawing/2014/main" id="{C1063859-E093-1C11-86E1-FECBDCE46C01}"/>
                </a:ext>
              </a:extLst>
            </p:cNvPr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72">
              <a:extLst>
                <a:ext uri="{FF2B5EF4-FFF2-40B4-BE49-F238E27FC236}">
                  <a16:creationId xmlns:a16="http://schemas.microsoft.com/office/drawing/2014/main" id="{1FAF66DC-DC95-C371-D9BB-A779673EFBFA}"/>
                </a:ext>
              </a:extLst>
            </p:cNvPr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72">
              <a:extLst>
                <a:ext uri="{FF2B5EF4-FFF2-40B4-BE49-F238E27FC236}">
                  <a16:creationId xmlns:a16="http://schemas.microsoft.com/office/drawing/2014/main" id="{6BDB6D67-D95B-0FFA-32A2-306AEBEBEFCA}"/>
                </a:ext>
              </a:extLst>
            </p:cNvPr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72">
              <a:extLst>
                <a:ext uri="{FF2B5EF4-FFF2-40B4-BE49-F238E27FC236}">
                  <a16:creationId xmlns:a16="http://schemas.microsoft.com/office/drawing/2014/main" id="{72FC0213-B037-02F5-FFD5-CE6435689525}"/>
                </a:ext>
              </a:extLst>
            </p:cNvPr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72">
              <a:extLst>
                <a:ext uri="{FF2B5EF4-FFF2-40B4-BE49-F238E27FC236}">
                  <a16:creationId xmlns:a16="http://schemas.microsoft.com/office/drawing/2014/main" id="{C0F7AEE0-241C-8431-0987-94FA24B157F0}"/>
                </a:ext>
              </a:extLst>
            </p:cNvPr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72">
              <a:extLst>
                <a:ext uri="{FF2B5EF4-FFF2-40B4-BE49-F238E27FC236}">
                  <a16:creationId xmlns:a16="http://schemas.microsoft.com/office/drawing/2014/main" id="{5BEDD9EF-3EE6-E432-859E-68C5B7930928}"/>
                </a:ext>
              </a:extLst>
            </p:cNvPr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72">
              <a:extLst>
                <a:ext uri="{FF2B5EF4-FFF2-40B4-BE49-F238E27FC236}">
                  <a16:creationId xmlns:a16="http://schemas.microsoft.com/office/drawing/2014/main" id="{0D5EF9DB-4343-DD69-3CDD-08BE3C390762}"/>
                </a:ext>
              </a:extLst>
            </p:cNvPr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72">
              <a:extLst>
                <a:ext uri="{FF2B5EF4-FFF2-40B4-BE49-F238E27FC236}">
                  <a16:creationId xmlns:a16="http://schemas.microsoft.com/office/drawing/2014/main" id="{5B86FD8E-61E0-E5CF-976B-EDEE7E87AF33}"/>
                </a:ext>
              </a:extLst>
            </p:cNvPr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72">
              <a:extLst>
                <a:ext uri="{FF2B5EF4-FFF2-40B4-BE49-F238E27FC236}">
                  <a16:creationId xmlns:a16="http://schemas.microsoft.com/office/drawing/2014/main" id="{8D6C74F9-FBFB-34CB-9580-AF3A801351DF}"/>
                </a:ext>
              </a:extLst>
            </p:cNvPr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72">
              <a:extLst>
                <a:ext uri="{FF2B5EF4-FFF2-40B4-BE49-F238E27FC236}">
                  <a16:creationId xmlns:a16="http://schemas.microsoft.com/office/drawing/2014/main" id="{19D2902F-C381-FFF6-590D-6C8D2DDFBFF7}"/>
                </a:ext>
              </a:extLst>
            </p:cNvPr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72">
              <a:extLst>
                <a:ext uri="{FF2B5EF4-FFF2-40B4-BE49-F238E27FC236}">
                  <a16:creationId xmlns:a16="http://schemas.microsoft.com/office/drawing/2014/main" id="{005B8BCB-BBE0-96D2-506E-C38674CA0DAE}"/>
                </a:ext>
              </a:extLst>
            </p:cNvPr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72">
              <a:extLst>
                <a:ext uri="{FF2B5EF4-FFF2-40B4-BE49-F238E27FC236}">
                  <a16:creationId xmlns:a16="http://schemas.microsoft.com/office/drawing/2014/main" id="{AA7CAA37-F98E-8D80-BD73-6F564E0AEB88}"/>
                </a:ext>
              </a:extLst>
            </p:cNvPr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72">
              <a:extLst>
                <a:ext uri="{FF2B5EF4-FFF2-40B4-BE49-F238E27FC236}">
                  <a16:creationId xmlns:a16="http://schemas.microsoft.com/office/drawing/2014/main" id="{F362952F-00D8-A5A7-91E5-B5665DF3A3A9}"/>
                </a:ext>
              </a:extLst>
            </p:cNvPr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72">
              <a:extLst>
                <a:ext uri="{FF2B5EF4-FFF2-40B4-BE49-F238E27FC236}">
                  <a16:creationId xmlns:a16="http://schemas.microsoft.com/office/drawing/2014/main" id="{9892B77D-47A2-8056-E1B5-DFB32FB0331D}"/>
                </a:ext>
              </a:extLst>
            </p:cNvPr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72">
              <a:extLst>
                <a:ext uri="{FF2B5EF4-FFF2-40B4-BE49-F238E27FC236}">
                  <a16:creationId xmlns:a16="http://schemas.microsoft.com/office/drawing/2014/main" id="{06A9FD9F-27C3-EBC3-F02A-CAA046C4E71D}"/>
                </a:ext>
              </a:extLst>
            </p:cNvPr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72">
              <a:extLst>
                <a:ext uri="{FF2B5EF4-FFF2-40B4-BE49-F238E27FC236}">
                  <a16:creationId xmlns:a16="http://schemas.microsoft.com/office/drawing/2014/main" id="{3325D1B4-E431-E0FC-1264-CE2C8D117ACC}"/>
                </a:ext>
              </a:extLst>
            </p:cNvPr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72">
              <a:extLst>
                <a:ext uri="{FF2B5EF4-FFF2-40B4-BE49-F238E27FC236}">
                  <a16:creationId xmlns:a16="http://schemas.microsoft.com/office/drawing/2014/main" id="{CE146A97-EDAF-2ECA-AB3C-9164DC3A1668}"/>
                </a:ext>
              </a:extLst>
            </p:cNvPr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72">
              <a:extLst>
                <a:ext uri="{FF2B5EF4-FFF2-40B4-BE49-F238E27FC236}">
                  <a16:creationId xmlns:a16="http://schemas.microsoft.com/office/drawing/2014/main" id="{C43A7435-C4B9-B192-9A9A-19F386643C77}"/>
                </a:ext>
              </a:extLst>
            </p:cNvPr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72">
              <a:extLst>
                <a:ext uri="{FF2B5EF4-FFF2-40B4-BE49-F238E27FC236}">
                  <a16:creationId xmlns:a16="http://schemas.microsoft.com/office/drawing/2014/main" id="{167FFAD7-23FD-B40A-C86D-B2F95758019E}"/>
                </a:ext>
              </a:extLst>
            </p:cNvPr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72">
              <a:extLst>
                <a:ext uri="{FF2B5EF4-FFF2-40B4-BE49-F238E27FC236}">
                  <a16:creationId xmlns:a16="http://schemas.microsoft.com/office/drawing/2014/main" id="{2CAF6037-7F23-E973-706B-D859178CA403}"/>
                </a:ext>
              </a:extLst>
            </p:cNvPr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72">
              <a:extLst>
                <a:ext uri="{FF2B5EF4-FFF2-40B4-BE49-F238E27FC236}">
                  <a16:creationId xmlns:a16="http://schemas.microsoft.com/office/drawing/2014/main" id="{BF0E4E7B-0516-4107-C36A-814CF4D1FE03}"/>
                </a:ext>
              </a:extLst>
            </p:cNvPr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72">
              <a:extLst>
                <a:ext uri="{FF2B5EF4-FFF2-40B4-BE49-F238E27FC236}">
                  <a16:creationId xmlns:a16="http://schemas.microsoft.com/office/drawing/2014/main" id="{4C56E5BE-0FD9-4C98-58EF-28AFC9A51F70}"/>
                </a:ext>
              </a:extLst>
            </p:cNvPr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72">
              <a:extLst>
                <a:ext uri="{FF2B5EF4-FFF2-40B4-BE49-F238E27FC236}">
                  <a16:creationId xmlns:a16="http://schemas.microsoft.com/office/drawing/2014/main" id="{EC9A1470-4A75-72C9-E6E2-52CF04BAC85F}"/>
                </a:ext>
              </a:extLst>
            </p:cNvPr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72">
              <a:extLst>
                <a:ext uri="{FF2B5EF4-FFF2-40B4-BE49-F238E27FC236}">
                  <a16:creationId xmlns:a16="http://schemas.microsoft.com/office/drawing/2014/main" id="{9A78AA08-17C1-99BD-D36F-5C13EB284923}"/>
                </a:ext>
              </a:extLst>
            </p:cNvPr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72">
              <a:extLst>
                <a:ext uri="{FF2B5EF4-FFF2-40B4-BE49-F238E27FC236}">
                  <a16:creationId xmlns:a16="http://schemas.microsoft.com/office/drawing/2014/main" id="{C93A7DAA-45B5-02E5-5EF1-E84F80545B62}"/>
                </a:ext>
              </a:extLst>
            </p:cNvPr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72">
              <a:extLst>
                <a:ext uri="{FF2B5EF4-FFF2-40B4-BE49-F238E27FC236}">
                  <a16:creationId xmlns:a16="http://schemas.microsoft.com/office/drawing/2014/main" id="{B2ADDDE2-3CED-F5F3-C039-DF5DDADCC019}"/>
                </a:ext>
              </a:extLst>
            </p:cNvPr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72">
              <a:extLst>
                <a:ext uri="{FF2B5EF4-FFF2-40B4-BE49-F238E27FC236}">
                  <a16:creationId xmlns:a16="http://schemas.microsoft.com/office/drawing/2014/main" id="{209E9832-C34D-CA36-2AE5-5A42DD5BC35B}"/>
                </a:ext>
              </a:extLst>
            </p:cNvPr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72">
              <a:extLst>
                <a:ext uri="{FF2B5EF4-FFF2-40B4-BE49-F238E27FC236}">
                  <a16:creationId xmlns:a16="http://schemas.microsoft.com/office/drawing/2014/main" id="{DE600768-B8CD-EBB7-E406-58A7DC6AC4AB}"/>
                </a:ext>
              </a:extLst>
            </p:cNvPr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72">
              <a:extLst>
                <a:ext uri="{FF2B5EF4-FFF2-40B4-BE49-F238E27FC236}">
                  <a16:creationId xmlns:a16="http://schemas.microsoft.com/office/drawing/2014/main" id="{2B7D7D69-BC5E-7D6C-F4DC-D8CB053EDE82}"/>
                </a:ext>
              </a:extLst>
            </p:cNvPr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72">
              <a:extLst>
                <a:ext uri="{FF2B5EF4-FFF2-40B4-BE49-F238E27FC236}">
                  <a16:creationId xmlns:a16="http://schemas.microsoft.com/office/drawing/2014/main" id="{3F819C0A-B7C3-7045-CFDD-4C2B0A26F5FB}"/>
                </a:ext>
              </a:extLst>
            </p:cNvPr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72">
              <a:extLst>
                <a:ext uri="{FF2B5EF4-FFF2-40B4-BE49-F238E27FC236}">
                  <a16:creationId xmlns:a16="http://schemas.microsoft.com/office/drawing/2014/main" id="{878B8FBD-91C5-778B-7F7F-2651F8AB180E}"/>
                </a:ext>
              </a:extLst>
            </p:cNvPr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72">
              <a:extLst>
                <a:ext uri="{FF2B5EF4-FFF2-40B4-BE49-F238E27FC236}">
                  <a16:creationId xmlns:a16="http://schemas.microsoft.com/office/drawing/2014/main" id="{4189E1D4-DE1E-B8D3-FA82-7E49F3A3B175}"/>
                </a:ext>
              </a:extLst>
            </p:cNvPr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72">
              <a:extLst>
                <a:ext uri="{FF2B5EF4-FFF2-40B4-BE49-F238E27FC236}">
                  <a16:creationId xmlns:a16="http://schemas.microsoft.com/office/drawing/2014/main" id="{D818F152-5D9A-CE9D-0E78-410CA9ADE982}"/>
                </a:ext>
              </a:extLst>
            </p:cNvPr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72">
              <a:extLst>
                <a:ext uri="{FF2B5EF4-FFF2-40B4-BE49-F238E27FC236}">
                  <a16:creationId xmlns:a16="http://schemas.microsoft.com/office/drawing/2014/main" id="{19A473F8-D8F4-B13B-D970-CD459C376E27}"/>
                </a:ext>
              </a:extLst>
            </p:cNvPr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72">
              <a:extLst>
                <a:ext uri="{FF2B5EF4-FFF2-40B4-BE49-F238E27FC236}">
                  <a16:creationId xmlns:a16="http://schemas.microsoft.com/office/drawing/2014/main" id="{0B958E43-BABE-8667-0564-A72B54752C36}"/>
                </a:ext>
              </a:extLst>
            </p:cNvPr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72">
              <a:extLst>
                <a:ext uri="{FF2B5EF4-FFF2-40B4-BE49-F238E27FC236}">
                  <a16:creationId xmlns:a16="http://schemas.microsoft.com/office/drawing/2014/main" id="{76830295-C50A-9196-DFE0-9AF4A4255130}"/>
                </a:ext>
              </a:extLst>
            </p:cNvPr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72">
              <a:extLst>
                <a:ext uri="{FF2B5EF4-FFF2-40B4-BE49-F238E27FC236}">
                  <a16:creationId xmlns:a16="http://schemas.microsoft.com/office/drawing/2014/main" id="{86B8FC07-19D5-AFD8-FFF3-C4862C6856F6}"/>
                </a:ext>
              </a:extLst>
            </p:cNvPr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72">
              <a:extLst>
                <a:ext uri="{FF2B5EF4-FFF2-40B4-BE49-F238E27FC236}">
                  <a16:creationId xmlns:a16="http://schemas.microsoft.com/office/drawing/2014/main" id="{12AE6F08-BC03-624E-F0A8-E34C583E363D}"/>
                </a:ext>
              </a:extLst>
            </p:cNvPr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72">
              <a:extLst>
                <a:ext uri="{FF2B5EF4-FFF2-40B4-BE49-F238E27FC236}">
                  <a16:creationId xmlns:a16="http://schemas.microsoft.com/office/drawing/2014/main" id="{4303F67B-0DFB-F7FD-95FD-5C3A230A40D2}"/>
                </a:ext>
              </a:extLst>
            </p:cNvPr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72">
              <a:extLst>
                <a:ext uri="{FF2B5EF4-FFF2-40B4-BE49-F238E27FC236}">
                  <a16:creationId xmlns:a16="http://schemas.microsoft.com/office/drawing/2014/main" id="{3530AD18-082F-CA2C-B9F9-7002DD56AFD5}"/>
                </a:ext>
              </a:extLst>
            </p:cNvPr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72">
              <a:extLst>
                <a:ext uri="{FF2B5EF4-FFF2-40B4-BE49-F238E27FC236}">
                  <a16:creationId xmlns:a16="http://schemas.microsoft.com/office/drawing/2014/main" id="{31CFF53B-A4F3-2B13-80A7-333A1AC34FB7}"/>
                </a:ext>
              </a:extLst>
            </p:cNvPr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72">
              <a:extLst>
                <a:ext uri="{FF2B5EF4-FFF2-40B4-BE49-F238E27FC236}">
                  <a16:creationId xmlns:a16="http://schemas.microsoft.com/office/drawing/2014/main" id="{E2A7187F-2C5C-28B1-2176-CA1E15D5F1AD}"/>
                </a:ext>
              </a:extLst>
            </p:cNvPr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72">
              <a:extLst>
                <a:ext uri="{FF2B5EF4-FFF2-40B4-BE49-F238E27FC236}">
                  <a16:creationId xmlns:a16="http://schemas.microsoft.com/office/drawing/2014/main" id="{5B3DD4F2-F68A-2182-5BB7-B591790B8241}"/>
                </a:ext>
              </a:extLst>
            </p:cNvPr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72">
              <a:extLst>
                <a:ext uri="{FF2B5EF4-FFF2-40B4-BE49-F238E27FC236}">
                  <a16:creationId xmlns:a16="http://schemas.microsoft.com/office/drawing/2014/main" id="{CBE4AA44-6023-975E-1A18-10553F98600A}"/>
                </a:ext>
              </a:extLst>
            </p:cNvPr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72">
              <a:extLst>
                <a:ext uri="{FF2B5EF4-FFF2-40B4-BE49-F238E27FC236}">
                  <a16:creationId xmlns:a16="http://schemas.microsoft.com/office/drawing/2014/main" id="{340830A3-8C00-3EAB-2634-DC8E8C69CDC4}"/>
                </a:ext>
              </a:extLst>
            </p:cNvPr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72">
              <a:extLst>
                <a:ext uri="{FF2B5EF4-FFF2-40B4-BE49-F238E27FC236}">
                  <a16:creationId xmlns:a16="http://schemas.microsoft.com/office/drawing/2014/main" id="{559FC44E-1074-CBB8-0B56-BBCE59ADF517}"/>
                </a:ext>
              </a:extLst>
            </p:cNvPr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72">
              <a:extLst>
                <a:ext uri="{FF2B5EF4-FFF2-40B4-BE49-F238E27FC236}">
                  <a16:creationId xmlns:a16="http://schemas.microsoft.com/office/drawing/2014/main" id="{09F4355E-6F23-FB9D-07A8-9AB5C1A03FC0}"/>
                </a:ext>
              </a:extLst>
            </p:cNvPr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72">
              <a:extLst>
                <a:ext uri="{FF2B5EF4-FFF2-40B4-BE49-F238E27FC236}">
                  <a16:creationId xmlns:a16="http://schemas.microsoft.com/office/drawing/2014/main" id="{AADB9C87-8061-5A30-E5B2-572792D32978}"/>
                </a:ext>
              </a:extLst>
            </p:cNvPr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72">
              <a:extLst>
                <a:ext uri="{FF2B5EF4-FFF2-40B4-BE49-F238E27FC236}">
                  <a16:creationId xmlns:a16="http://schemas.microsoft.com/office/drawing/2014/main" id="{CFED120F-2843-59E2-8EFE-49D96AAC575F}"/>
                </a:ext>
              </a:extLst>
            </p:cNvPr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01" name="Google Shape;5101;p72">
            <a:extLst>
              <a:ext uri="{FF2B5EF4-FFF2-40B4-BE49-F238E27FC236}">
                <a16:creationId xmlns:a16="http://schemas.microsoft.com/office/drawing/2014/main" id="{72BA8F59-D6F2-87DB-436B-A7F5D7BFBF2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00" y="2777912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2" name="Google Shape;5102;p72">
            <a:extLst>
              <a:ext uri="{FF2B5EF4-FFF2-40B4-BE49-F238E27FC236}">
                <a16:creationId xmlns:a16="http://schemas.microsoft.com/office/drawing/2014/main" id="{6D4E9883-6571-F6EC-AC80-DA011F831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30825" y="217275"/>
            <a:ext cx="3600000" cy="43967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Hvala na pažnji!</a:t>
            </a:r>
            <a:endParaRPr dirty="0"/>
          </a:p>
        </p:txBody>
      </p:sp>
      <p:pic>
        <p:nvPicPr>
          <p:cNvPr id="5117" name="Google Shape;5117;p72">
            <a:extLst>
              <a:ext uri="{FF2B5EF4-FFF2-40B4-BE49-F238E27FC236}">
                <a16:creationId xmlns:a16="http://schemas.microsoft.com/office/drawing/2014/main" id="{028505CA-AD4F-1306-7BD3-F6309011C23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750" y="1328163"/>
            <a:ext cx="1052703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8" name="Google Shape;5118;p72">
            <a:extLst>
              <a:ext uri="{FF2B5EF4-FFF2-40B4-BE49-F238E27FC236}">
                <a16:creationId xmlns:a16="http://schemas.microsoft.com/office/drawing/2014/main" id="{5B24FE59-CCB3-D9BB-DC91-7D540213AB8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4446" y="591912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9" name="Google Shape;5119;p72">
            <a:extLst>
              <a:ext uri="{FF2B5EF4-FFF2-40B4-BE49-F238E27FC236}">
                <a16:creationId xmlns:a16="http://schemas.microsoft.com/office/drawing/2014/main" id="{65A467B0-8BA0-D50A-FE3C-23F644716EE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5223" y="3094470"/>
            <a:ext cx="841230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0" name="Google Shape;5120;p72">
            <a:extLst>
              <a:ext uri="{FF2B5EF4-FFF2-40B4-BE49-F238E27FC236}">
                <a16:creationId xmlns:a16="http://schemas.microsoft.com/office/drawing/2014/main" id="{4D5B9AD7-1A60-39C1-CCF2-55BBAC8D62AD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6020" y="591897"/>
            <a:ext cx="1243252" cy="130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1" name="Google Shape;5121;p72">
            <a:extLst>
              <a:ext uri="{FF2B5EF4-FFF2-40B4-BE49-F238E27FC236}">
                <a16:creationId xmlns:a16="http://schemas.microsoft.com/office/drawing/2014/main" id="{DC5E1ED8-98DD-9F2F-98A2-D65352B9989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2829" y="2125454"/>
            <a:ext cx="1679975" cy="221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Google Shape;5122;p72">
            <a:extLst>
              <a:ext uri="{FF2B5EF4-FFF2-40B4-BE49-F238E27FC236}">
                <a16:creationId xmlns:a16="http://schemas.microsoft.com/office/drawing/2014/main" id="{AC5C4D9D-F614-AABF-D97A-47F131230819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8774" y="2420413"/>
            <a:ext cx="797661" cy="133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652756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2269</Words>
  <Application>Microsoft Office PowerPoint</Application>
  <PresentationFormat>On-screen Show (16:9)</PresentationFormat>
  <Paragraphs>242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Cambria Math</vt:lpstr>
      <vt:lpstr>Arial</vt:lpstr>
      <vt:lpstr>Alumni Sans Pinstripe</vt:lpstr>
      <vt:lpstr>Advent Pro</vt:lpstr>
      <vt:lpstr>Open Sans Medium</vt:lpstr>
      <vt:lpstr>Cyber Security Kill Chain by Slidesgo</vt:lpstr>
      <vt:lpstr>Adversary Simulation with MITRE CALDERA</vt:lpstr>
      <vt:lpstr>Sadržaj </vt:lpstr>
      <vt:lpstr>Infrastrukturni Inženjer</vt:lpstr>
      <vt:lpstr>Misija</vt:lpstr>
      <vt:lpstr>Mrežna osnova - pfSense </vt:lpstr>
      <vt:lpstr>Active Directory okruženje</vt:lpstr>
      <vt:lpstr>Ranjivi Linux server</vt:lpstr>
      <vt:lpstr>Automatizacija napada - CALDERA</vt:lpstr>
      <vt:lpstr>Sigurnosni nadzor - Wazuh SIEM</vt:lpstr>
      <vt:lpstr>Tailscale VPN </vt:lpstr>
      <vt:lpstr>Blue team Inženjer</vt:lpstr>
      <vt:lpstr>Sigurnosni Nadzor i Instrumentacija (Blue Team)</vt:lpstr>
      <vt:lpstr>Implementirani Alati i Agenti</vt:lpstr>
      <vt:lpstr>Mapiranje Prijetnji</vt:lpstr>
      <vt:lpstr>Detekcija Napada u Realnom Vremenu</vt:lpstr>
      <vt:lpstr>Otklanjanje Ranjivosti i Ojačavanje Sustava</vt:lpstr>
      <vt:lpstr>Red Team Inženjer</vt:lpstr>
      <vt:lpstr>Red Team: Strategija Napada</vt:lpstr>
      <vt:lpstr>Red Team: Strategija Napada</vt:lpstr>
      <vt:lpstr>Faza 1: Uspješna Eksploatacija</vt:lpstr>
      <vt:lpstr>Faza 1: Dokaz Uspjeha</vt:lpstr>
      <vt:lpstr>Faza 2: Potvrda Zaštite</vt:lpstr>
      <vt:lpstr>Faza 2: Potvrda Zaštite</vt:lpstr>
      <vt:lpstr>Zaključak i Nalazi</vt:lpstr>
      <vt:lpstr>Threat hunter/Analitičar</vt:lpstr>
      <vt:lpstr>Cilj i fokus analize</vt:lpstr>
      <vt:lpstr>Baseline kao temelj analize</vt:lpstr>
      <vt:lpstr>Što je definirano kao baseline</vt:lpstr>
      <vt:lpstr>Faza 1: Analiza napada</vt:lpstr>
      <vt:lpstr>Faza 1: Analiza napada</vt:lpstr>
      <vt:lpstr>Faza 2: Analiza nakon hardeninga</vt:lpstr>
      <vt:lpstr>Usporedba faza 1 i 2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Marko Sokser</dc:creator>
  <cp:lastModifiedBy>Luka Kukec</cp:lastModifiedBy>
  <cp:revision>35</cp:revision>
  <dcterms:modified xsi:type="dcterms:W3CDTF">2026-01-14T00:24:06Z</dcterms:modified>
</cp:coreProperties>
</file>